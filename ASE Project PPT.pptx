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 id="2147483719" r:id="rId2"/>
    <p:sldMasterId id="2147483707" r:id="rId3"/>
    <p:sldMasterId id="2147483755" r:id="rId4"/>
  </p:sldMasterIdLst>
  <p:notesMasterIdLst>
    <p:notesMasterId r:id="rId18"/>
  </p:notesMasterIdLst>
  <p:handoutMasterIdLst>
    <p:handoutMasterId r:id="rId19"/>
  </p:handoutMasterIdLst>
  <p:sldIdLst>
    <p:sldId id="256" r:id="rId5"/>
    <p:sldId id="263" r:id="rId6"/>
    <p:sldId id="265" r:id="rId7"/>
    <p:sldId id="266" r:id="rId8"/>
    <p:sldId id="267" r:id="rId9"/>
    <p:sldId id="396" r:id="rId10"/>
    <p:sldId id="398" r:id="rId11"/>
    <p:sldId id="322" r:id="rId12"/>
    <p:sldId id="399" r:id="rId13"/>
    <p:sldId id="401" r:id="rId14"/>
    <p:sldId id="402" r:id="rId15"/>
    <p:sldId id="403" r:id="rId16"/>
    <p:sldId id="40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AFF2"/>
    <a:srgbClr val="71BB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8" dt="2026-09-18T03:06:32.772"/>
    <p1510:client id="{C8C5F237-0A80-4AE7-BD1F-D901A1A0F633}" v="38" dt="2026-09-17T10:27:43.8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188" y="52"/>
      </p:cViewPr>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CF1BD0-4285-1DBF-1F85-12A9C003EC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4449A90F-9E6F-2BBD-E4C1-F231DFECBE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551894C-48C1-41F1-A201-34DB6CBBBBE6}" type="datetimeFigureOut">
              <a:rPr lang="en-IN" smtClean="0"/>
              <a:t>17-09-2026</a:t>
            </a:fld>
            <a:endParaRPr lang="en-IN"/>
          </a:p>
        </p:txBody>
      </p:sp>
      <p:sp>
        <p:nvSpPr>
          <p:cNvPr id="4" name="Footer Placeholder 3">
            <a:extLst>
              <a:ext uri="{FF2B5EF4-FFF2-40B4-BE49-F238E27FC236}">
                <a16:creationId xmlns:a16="http://schemas.microsoft.com/office/drawing/2014/main" id="{8412C0E8-5C08-8DCD-99CD-96B540853BF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96225E5-1D19-4F74-0CA3-0BC39FA2D18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6C6DEB-6FF4-483C-BBA0-B325BADB0565}" type="slidenum">
              <a:rPr lang="en-IN" smtClean="0"/>
              <a:t>‹#›</a:t>
            </a:fld>
            <a:endParaRPr lang="en-IN"/>
          </a:p>
        </p:txBody>
      </p:sp>
    </p:spTree>
    <p:extLst>
      <p:ext uri="{BB962C8B-B14F-4D97-AF65-F5344CB8AC3E}">
        <p14:creationId xmlns:p14="http://schemas.microsoft.com/office/powerpoint/2010/main" val="414684604"/>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0D586D-DA7F-403D-AF89-CB8CBB1EF597}" type="datetimeFigureOut">
              <a:rPr lang="en-IN" smtClean="0"/>
              <a:t>17-09-2026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E15E5-07B6-40CA-8D0D-6845CA1DD11C}" type="slidenum">
              <a:rPr lang="en-IN" smtClean="0"/>
              <a:t>‹#›</a:t>
            </a:fld>
            <a:endParaRPr lang="en-IN"/>
          </a:p>
        </p:txBody>
      </p:sp>
    </p:spTree>
    <p:extLst>
      <p:ext uri="{BB962C8B-B14F-4D97-AF65-F5344CB8AC3E}">
        <p14:creationId xmlns:p14="http://schemas.microsoft.com/office/powerpoint/2010/main" val="3504526264"/>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Tree>
    <p:extLst>
      <p:ext uri="{BB962C8B-B14F-4D97-AF65-F5344CB8AC3E}">
        <p14:creationId xmlns:p14="http://schemas.microsoft.com/office/powerpoint/2010/main" val="3788910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Tree>
    <p:extLst>
      <p:ext uri="{BB962C8B-B14F-4D97-AF65-F5344CB8AC3E}">
        <p14:creationId xmlns:p14="http://schemas.microsoft.com/office/powerpoint/2010/main" val="1273940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F2AE0-10FC-426C-0BDB-E5EDF2F917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383E875-E3B7-3652-9C2D-322C851178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11841AC-ABFE-7C19-D82D-6C99A5B39B02}"/>
              </a:ext>
            </a:extLst>
          </p:cNvPr>
          <p:cNvSpPr>
            <a:spLocks noGrp="1"/>
          </p:cNvSpPr>
          <p:nvPr>
            <p:ph type="dt" sz="half" idx="10"/>
          </p:nvPr>
        </p:nvSpPr>
        <p:spPr/>
        <p:txBody>
          <a:bodyPr/>
          <a:lstStyle/>
          <a:p>
            <a:fld id="{9DBD89FD-1150-4979-9614-9DD9EB69C9AA}" type="datetimeFigureOut">
              <a:rPr lang="en-IN" smtClean="0"/>
              <a:t>17-09-2026</a:t>
            </a:fld>
            <a:endParaRPr lang="en-IN"/>
          </a:p>
        </p:txBody>
      </p:sp>
      <p:sp>
        <p:nvSpPr>
          <p:cNvPr id="5" name="Footer Placeholder 4">
            <a:extLst>
              <a:ext uri="{FF2B5EF4-FFF2-40B4-BE49-F238E27FC236}">
                <a16:creationId xmlns:a16="http://schemas.microsoft.com/office/drawing/2014/main" id="{39680885-ABC1-FB6C-B5FB-24D6B3FBAC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47DC9D-19CD-B202-2B83-E0899E445243}"/>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859775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F001F-787C-85EC-646A-75EEC5EB37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BF2371-B883-4891-AB2F-F7A6DECF37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8AFCBC-7CDF-1083-43D2-7537F13F341F}"/>
              </a:ext>
            </a:extLst>
          </p:cNvPr>
          <p:cNvSpPr>
            <a:spLocks noGrp="1"/>
          </p:cNvSpPr>
          <p:nvPr>
            <p:ph type="dt" sz="half" idx="10"/>
          </p:nvPr>
        </p:nvSpPr>
        <p:spPr/>
        <p:txBody>
          <a:bodyPr/>
          <a:lstStyle/>
          <a:p>
            <a:fld id="{9DBD89FD-1150-4979-9614-9DD9EB69C9AA}" type="datetimeFigureOut">
              <a:rPr lang="en-IN" smtClean="0"/>
              <a:t>17-09-2026</a:t>
            </a:fld>
            <a:endParaRPr lang="en-IN"/>
          </a:p>
        </p:txBody>
      </p:sp>
      <p:sp>
        <p:nvSpPr>
          <p:cNvPr id="5" name="Footer Placeholder 4">
            <a:extLst>
              <a:ext uri="{FF2B5EF4-FFF2-40B4-BE49-F238E27FC236}">
                <a16:creationId xmlns:a16="http://schemas.microsoft.com/office/drawing/2014/main" id="{8E43B008-8F2A-6C21-B917-4A4987FEA5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901356-BC6B-79BE-2C81-FAB97E0994EB}"/>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983338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31EE1-438F-6B19-E833-B0AABFA3D7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6086E3-B9A4-8ECE-6979-FA4F575AA9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02C63F-668F-F11D-D4E9-8FF555F107BD}"/>
              </a:ext>
            </a:extLst>
          </p:cNvPr>
          <p:cNvSpPr>
            <a:spLocks noGrp="1"/>
          </p:cNvSpPr>
          <p:nvPr>
            <p:ph type="dt" sz="half" idx="10"/>
          </p:nvPr>
        </p:nvSpPr>
        <p:spPr/>
        <p:txBody>
          <a:bodyPr/>
          <a:lstStyle/>
          <a:p>
            <a:fld id="{9DBD89FD-1150-4979-9614-9DD9EB69C9AA}" type="datetimeFigureOut">
              <a:rPr lang="en-IN" smtClean="0"/>
              <a:t>17-09-2026</a:t>
            </a:fld>
            <a:endParaRPr lang="en-IN"/>
          </a:p>
        </p:txBody>
      </p:sp>
      <p:sp>
        <p:nvSpPr>
          <p:cNvPr id="5" name="Footer Placeholder 4">
            <a:extLst>
              <a:ext uri="{FF2B5EF4-FFF2-40B4-BE49-F238E27FC236}">
                <a16:creationId xmlns:a16="http://schemas.microsoft.com/office/drawing/2014/main" id="{19B8B1E7-9509-C949-3D6D-07B2A6C5B5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1C8284-31CD-BD88-D5A6-B3C27D6C3493}"/>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44471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7EFB4-D658-6814-F065-5E9C6419AE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216235-C3A8-F060-30C7-0FFDD2CBC3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DD1B408-6CEC-1F37-36CA-5765C1E278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32379E-606B-C181-DA9D-53E859FD2062}"/>
              </a:ext>
            </a:extLst>
          </p:cNvPr>
          <p:cNvSpPr>
            <a:spLocks noGrp="1"/>
          </p:cNvSpPr>
          <p:nvPr>
            <p:ph type="dt" sz="half" idx="10"/>
          </p:nvPr>
        </p:nvSpPr>
        <p:spPr/>
        <p:txBody>
          <a:bodyPr/>
          <a:lstStyle/>
          <a:p>
            <a:fld id="{9DBD89FD-1150-4979-9614-9DD9EB69C9AA}" type="datetimeFigureOut">
              <a:rPr lang="en-IN" smtClean="0"/>
              <a:t>17-09-2026</a:t>
            </a:fld>
            <a:endParaRPr lang="en-IN"/>
          </a:p>
        </p:txBody>
      </p:sp>
      <p:sp>
        <p:nvSpPr>
          <p:cNvPr id="6" name="Footer Placeholder 5">
            <a:extLst>
              <a:ext uri="{FF2B5EF4-FFF2-40B4-BE49-F238E27FC236}">
                <a16:creationId xmlns:a16="http://schemas.microsoft.com/office/drawing/2014/main" id="{1DE78BF4-0F10-5E48-1C57-4766C37BA5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925577-7D15-A784-D602-C2EF5F4BECAC}"/>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584232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7B010-FF59-0CB7-4087-1CC665E8D7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06A10E-F566-59C7-C794-172B18FFFA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DADCB8-B9B3-6FC5-E50D-D7693B0C06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B931BBB-5BB6-56F1-B332-0E7C857AD7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834126-F3FE-BF3B-C669-34B160F359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4DAAAE8-DC57-C01B-79C4-A6DDCDD0B588}"/>
              </a:ext>
            </a:extLst>
          </p:cNvPr>
          <p:cNvSpPr>
            <a:spLocks noGrp="1"/>
          </p:cNvSpPr>
          <p:nvPr>
            <p:ph type="dt" sz="half" idx="10"/>
          </p:nvPr>
        </p:nvSpPr>
        <p:spPr/>
        <p:txBody>
          <a:bodyPr/>
          <a:lstStyle/>
          <a:p>
            <a:fld id="{9DBD89FD-1150-4979-9614-9DD9EB69C9AA}" type="datetimeFigureOut">
              <a:rPr lang="en-IN" smtClean="0"/>
              <a:t>17-09-2026</a:t>
            </a:fld>
            <a:endParaRPr lang="en-IN"/>
          </a:p>
        </p:txBody>
      </p:sp>
      <p:sp>
        <p:nvSpPr>
          <p:cNvPr id="8" name="Footer Placeholder 7">
            <a:extLst>
              <a:ext uri="{FF2B5EF4-FFF2-40B4-BE49-F238E27FC236}">
                <a16:creationId xmlns:a16="http://schemas.microsoft.com/office/drawing/2014/main" id="{90978D50-BF56-325F-3BA9-7086F2D890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AE1807C-9917-1E23-B74A-55208340B9DD}"/>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1089587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971EB-AB59-B523-AC91-1EA0C69063B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632BB51-D151-4018-E94C-9492D14A2E20}"/>
              </a:ext>
            </a:extLst>
          </p:cNvPr>
          <p:cNvSpPr>
            <a:spLocks noGrp="1"/>
          </p:cNvSpPr>
          <p:nvPr>
            <p:ph type="dt" sz="half" idx="10"/>
          </p:nvPr>
        </p:nvSpPr>
        <p:spPr/>
        <p:txBody>
          <a:bodyPr/>
          <a:lstStyle/>
          <a:p>
            <a:fld id="{9DBD89FD-1150-4979-9614-9DD9EB69C9AA}" type="datetimeFigureOut">
              <a:rPr lang="en-IN" smtClean="0"/>
              <a:t>17-09-2026</a:t>
            </a:fld>
            <a:endParaRPr lang="en-IN"/>
          </a:p>
        </p:txBody>
      </p:sp>
      <p:sp>
        <p:nvSpPr>
          <p:cNvPr id="4" name="Footer Placeholder 3">
            <a:extLst>
              <a:ext uri="{FF2B5EF4-FFF2-40B4-BE49-F238E27FC236}">
                <a16:creationId xmlns:a16="http://schemas.microsoft.com/office/drawing/2014/main" id="{6CA76A11-3EFF-9F2E-7592-FC46C91DE85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E7E4494-87A1-9015-81E3-AB1F67ADDF40}"/>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337207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7C2251-4AD5-6CC6-554E-ACA868802A17}"/>
              </a:ext>
            </a:extLst>
          </p:cNvPr>
          <p:cNvSpPr>
            <a:spLocks noGrp="1"/>
          </p:cNvSpPr>
          <p:nvPr>
            <p:ph type="dt" sz="half" idx="10"/>
          </p:nvPr>
        </p:nvSpPr>
        <p:spPr/>
        <p:txBody>
          <a:bodyPr/>
          <a:lstStyle/>
          <a:p>
            <a:fld id="{9DBD89FD-1150-4979-9614-9DD9EB69C9AA}" type="datetimeFigureOut">
              <a:rPr lang="en-IN" smtClean="0"/>
              <a:t>17-09-2026</a:t>
            </a:fld>
            <a:endParaRPr lang="en-IN"/>
          </a:p>
        </p:txBody>
      </p:sp>
      <p:sp>
        <p:nvSpPr>
          <p:cNvPr id="3" name="Footer Placeholder 2">
            <a:extLst>
              <a:ext uri="{FF2B5EF4-FFF2-40B4-BE49-F238E27FC236}">
                <a16:creationId xmlns:a16="http://schemas.microsoft.com/office/drawing/2014/main" id="{339E874E-4321-DEEB-AF2B-11C3E932AC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A0854DB-44F2-EB81-AD02-3521BE282E75}"/>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1259684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F300B-399B-1F5B-EAE1-123CB0B495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261BF94-CB3C-A8B2-E5D4-C36CE25CDC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1BE399-58D6-C8D0-6E62-3CCFC67D2B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457D2B-22FA-E3BD-0160-4BB8741A0BC2}"/>
              </a:ext>
            </a:extLst>
          </p:cNvPr>
          <p:cNvSpPr>
            <a:spLocks noGrp="1"/>
          </p:cNvSpPr>
          <p:nvPr>
            <p:ph type="dt" sz="half" idx="10"/>
          </p:nvPr>
        </p:nvSpPr>
        <p:spPr/>
        <p:txBody>
          <a:bodyPr/>
          <a:lstStyle/>
          <a:p>
            <a:fld id="{9DBD89FD-1150-4979-9614-9DD9EB69C9AA}" type="datetimeFigureOut">
              <a:rPr lang="en-IN" smtClean="0"/>
              <a:t>17-09-2026</a:t>
            </a:fld>
            <a:endParaRPr lang="en-IN"/>
          </a:p>
        </p:txBody>
      </p:sp>
      <p:sp>
        <p:nvSpPr>
          <p:cNvPr id="6" name="Footer Placeholder 5">
            <a:extLst>
              <a:ext uri="{FF2B5EF4-FFF2-40B4-BE49-F238E27FC236}">
                <a16:creationId xmlns:a16="http://schemas.microsoft.com/office/drawing/2014/main" id="{56ED5D03-8CBC-D73D-86C4-D4AEA7D7B0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29FACB-D6ED-6C3C-011B-654286285383}"/>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4181046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A36FA-3CFF-29E4-33DD-468945E221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E801A5C-2B15-8CEE-60A8-415FCF7631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28917E3-6163-AA46-B140-9EB4F5FBAC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4199E-F1B5-870F-869F-027453C8E90E}"/>
              </a:ext>
            </a:extLst>
          </p:cNvPr>
          <p:cNvSpPr>
            <a:spLocks noGrp="1"/>
          </p:cNvSpPr>
          <p:nvPr>
            <p:ph type="dt" sz="half" idx="10"/>
          </p:nvPr>
        </p:nvSpPr>
        <p:spPr/>
        <p:txBody>
          <a:bodyPr/>
          <a:lstStyle/>
          <a:p>
            <a:fld id="{9DBD89FD-1150-4979-9614-9DD9EB69C9AA}" type="datetimeFigureOut">
              <a:rPr lang="en-IN" smtClean="0"/>
              <a:t>17-09-2026</a:t>
            </a:fld>
            <a:endParaRPr lang="en-IN"/>
          </a:p>
        </p:txBody>
      </p:sp>
      <p:sp>
        <p:nvSpPr>
          <p:cNvPr id="6" name="Footer Placeholder 5">
            <a:extLst>
              <a:ext uri="{FF2B5EF4-FFF2-40B4-BE49-F238E27FC236}">
                <a16:creationId xmlns:a16="http://schemas.microsoft.com/office/drawing/2014/main" id="{790E109C-B14B-88CF-5190-BD96216D6D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877B40-ED5C-2D77-3B00-4D0FB1410724}"/>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873152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77463-B71E-88C9-E822-48E99A7FF8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5BF2A4-9DBF-E1DE-3C4D-D911961340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88E53D-18F7-DDAB-669F-F896929AD619}"/>
              </a:ext>
            </a:extLst>
          </p:cNvPr>
          <p:cNvSpPr>
            <a:spLocks noGrp="1"/>
          </p:cNvSpPr>
          <p:nvPr>
            <p:ph type="dt" sz="half" idx="10"/>
          </p:nvPr>
        </p:nvSpPr>
        <p:spPr/>
        <p:txBody>
          <a:bodyPr/>
          <a:lstStyle/>
          <a:p>
            <a:fld id="{9DBD89FD-1150-4979-9614-9DD9EB69C9AA}" type="datetimeFigureOut">
              <a:rPr lang="en-IN" smtClean="0"/>
              <a:t>17-09-2026</a:t>
            </a:fld>
            <a:endParaRPr lang="en-IN"/>
          </a:p>
        </p:txBody>
      </p:sp>
      <p:sp>
        <p:nvSpPr>
          <p:cNvPr id="5" name="Footer Placeholder 4">
            <a:extLst>
              <a:ext uri="{FF2B5EF4-FFF2-40B4-BE49-F238E27FC236}">
                <a16:creationId xmlns:a16="http://schemas.microsoft.com/office/drawing/2014/main" id="{1DBF3B6A-6945-DCAD-58BB-EB48FD3CC4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FD397C-22ED-7A15-B740-DB385AA4D5BF}"/>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120455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7C07D4-C03D-D87C-98C8-BBBB406AB2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35743A-07E6-96C7-BBAF-0203D5AC7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18118A-8632-A741-AE6E-B6027C2692DC}"/>
              </a:ext>
            </a:extLst>
          </p:cNvPr>
          <p:cNvSpPr>
            <a:spLocks noGrp="1"/>
          </p:cNvSpPr>
          <p:nvPr>
            <p:ph type="dt" sz="half" idx="10"/>
          </p:nvPr>
        </p:nvSpPr>
        <p:spPr/>
        <p:txBody>
          <a:bodyPr/>
          <a:lstStyle/>
          <a:p>
            <a:fld id="{9DBD89FD-1150-4979-9614-9DD9EB69C9AA}" type="datetimeFigureOut">
              <a:rPr lang="en-IN" smtClean="0"/>
              <a:t>17-09-2026</a:t>
            </a:fld>
            <a:endParaRPr lang="en-IN"/>
          </a:p>
        </p:txBody>
      </p:sp>
      <p:sp>
        <p:nvSpPr>
          <p:cNvPr id="5" name="Footer Placeholder 4">
            <a:extLst>
              <a:ext uri="{FF2B5EF4-FFF2-40B4-BE49-F238E27FC236}">
                <a16:creationId xmlns:a16="http://schemas.microsoft.com/office/drawing/2014/main" id="{CF57F320-8747-00ED-F9CE-DA3BE58E4A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20E883-C54B-2C9A-10AC-7A9F284EDD05}"/>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24717098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E01C8-D491-2175-9058-3F6DFCE2C7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5AE508-A02A-99C7-5613-B94B7337C6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C93E0A0-323B-05CB-B626-F1AE478EB195}"/>
              </a:ext>
            </a:extLst>
          </p:cNvPr>
          <p:cNvSpPr>
            <a:spLocks noGrp="1"/>
          </p:cNvSpPr>
          <p:nvPr>
            <p:ph type="dt" sz="half" idx="10"/>
          </p:nvPr>
        </p:nvSpPr>
        <p:spPr/>
        <p:txBody>
          <a:bodyPr/>
          <a:lstStyle/>
          <a:p>
            <a:fld id="{76E1380B-202A-4ADB-8029-48BBD470229E}" type="datetimeFigureOut">
              <a:rPr lang="en-IN" smtClean="0"/>
              <a:t>17-09-2026</a:t>
            </a:fld>
            <a:endParaRPr lang="en-IN"/>
          </a:p>
        </p:txBody>
      </p:sp>
      <p:sp>
        <p:nvSpPr>
          <p:cNvPr id="5" name="Footer Placeholder 4">
            <a:extLst>
              <a:ext uri="{FF2B5EF4-FFF2-40B4-BE49-F238E27FC236}">
                <a16:creationId xmlns:a16="http://schemas.microsoft.com/office/drawing/2014/main" id="{54575BC5-CD0D-9CBC-38C6-7C29015F69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305E0C-F08F-962E-207F-417C2E7A9268}"/>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1870307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304-E6AE-3922-9A41-9270FF6ED0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EA0478-EFA8-16F8-0007-3E698DBA0C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0637BA-C0CF-BE0D-A4A2-B99399D3FA56}"/>
              </a:ext>
            </a:extLst>
          </p:cNvPr>
          <p:cNvSpPr>
            <a:spLocks noGrp="1"/>
          </p:cNvSpPr>
          <p:nvPr>
            <p:ph type="dt" sz="half" idx="10"/>
          </p:nvPr>
        </p:nvSpPr>
        <p:spPr/>
        <p:txBody>
          <a:bodyPr/>
          <a:lstStyle/>
          <a:p>
            <a:fld id="{76E1380B-202A-4ADB-8029-48BBD470229E}" type="datetimeFigureOut">
              <a:rPr lang="en-IN" smtClean="0"/>
              <a:t>17-09-2026</a:t>
            </a:fld>
            <a:endParaRPr lang="en-IN"/>
          </a:p>
        </p:txBody>
      </p:sp>
      <p:sp>
        <p:nvSpPr>
          <p:cNvPr id="5" name="Footer Placeholder 4">
            <a:extLst>
              <a:ext uri="{FF2B5EF4-FFF2-40B4-BE49-F238E27FC236}">
                <a16:creationId xmlns:a16="http://schemas.microsoft.com/office/drawing/2014/main" id="{D3EB3544-E7EF-B90B-7123-043AE6E5D4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ED28D1-3A61-7B6D-E385-986EF42C1783}"/>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37981800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FFEA6-D58A-647D-9BB3-C8BB8A8B85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124FDA-69B0-3C1A-106E-04BB47D9E9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92A197-8FEB-2E17-7C28-09BED68156F0}"/>
              </a:ext>
            </a:extLst>
          </p:cNvPr>
          <p:cNvSpPr>
            <a:spLocks noGrp="1"/>
          </p:cNvSpPr>
          <p:nvPr>
            <p:ph type="dt" sz="half" idx="10"/>
          </p:nvPr>
        </p:nvSpPr>
        <p:spPr/>
        <p:txBody>
          <a:bodyPr/>
          <a:lstStyle/>
          <a:p>
            <a:fld id="{76E1380B-202A-4ADB-8029-48BBD470229E}" type="datetimeFigureOut">
              <a:rPr lang="en-IN" smtClean="0"/>
              <a:t>17-09-2026</a:t>
            </a:fld>
            <a:endParaRPr lang="en-IN"/>
          </a:p>
        </p:txBody>
      </p:sp>
      <p:sp>
        <p:nvSpPr>
          <p:cNvPr id="5" name="Footer Placeholder 4">
            <a:extLst>
              <a:ext uri="{FF2B5EF4-FFF2-40B4-BE49-F238E27FC236}">
                <a16:creationId xmlns:a16="http://schemas.microsoft.com/office/drawing/2014/main" id="{7E699017-CE42-83B3-49F7-31021CADB3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9F764B-A203-707F-3333-F7E3B7CB37A8}"/>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3481532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85CE9-6EC1-A37D-E234-28A3EB3D61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C8B26E-9613-52FD-AB9E-A53E7BCD98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56B7B7-57F5-CBA8-9416-A94FA6ACF7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A04694E-1E5E-9700-B6CD-4244ABC21E0B}"/>
              </a:ext>
            </a:extLst>
          </p:cNvPr>
          <p:cNvSpPr>
            <a:spLocks noGrp="1"/>
          </p:cNvSpPr>
          <p:nvPr>
            <p:ph type="dt" sz="half" idx="10"/>
          </p:nvPr>
        </p:nvSpPr>
        <p:spPr/>
        <p:txBody>
          <a:bodyPr/>
          <a:lstStyle/>
          <a:p>
            <a:fld id="{76E1380B-202A-4ADB-8029-48BBD470229E}" type="datetimeFigureOut">
              <a:rPr lang="en-IN" smtClean="0"/>
              <a:t>17-09-2026</a:t>
            </a:fld>
            <a:endParaRPr lang="en-IN"/>
          </a:p>
        </p:txBody>
      </p:sp>
      <p:sp>
        <p:nvSpPr>
          <p:cNvPr id="6" name="Footer Placeholder 5">
            <a:extLst>
              <a:ext uri="{FF2B5EF4-FFF2-40B4-BE49-F238E27FC236}">
                <a16:creationId xmlns:a16="http://schemas.microsoft.com/office/drawing/2014/main" id="{91EA6A25-812C-197C-A392-01C8463025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9B391F-D01F-5022-7E76-89516160C68D}"/>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21515255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FC3AF-8AC8-B9B2-6D2E-47F15E5D17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FFDD15-4508-717D-574A-86A0746B3B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3FD005-0876-6386-8200-7DB9C5E9D0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B59816A-F9EE-79E0-8640-2AA32BF0A7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8F227-C99A-0BE8-E2D5-38EF096A9C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3C3B828-68FD-1497-2365-86E02D435469}"/>
              </a:ext>
            </a:extLst>
          </p:cNvPr>
          <p:cNvSpPr>
            <a:spLocks noGrp="1"/>
          </p:cNvSpPr>
          <p:nvPr>
            <p:ph type="dt" sz="half" idx="10"/>
          </p:nvPr>
        </p:nvSpPr>
        <p:spPr/>
        <p:txBody>
          <a:bodyPr/>
          <a:lstStyle/>
          <a:p>
            <a:fld id="{76E1380B-202A-4ADB-8029-48BBD470229E}" type="datetimeFigureOut">
              <a:rPr lang="en-IN" smtClean="0"/>
              <a:t>17-09-2026</a:t>
            </a:fld>
            <a:endParaRPr lang="en-IN"/>
          </a:p>
        </p:txBody>
      </p:sp>
      <p:sp>
        <p:nvSpPr>
          <p:cNvPr id="8" name="Footer Placeholder 7">
            <a:extLst>
              <a:ext uri="{FF2B5EF4-FFF2-40B4-BE49-F238E27FC236}">
                <a16:creationId xmlns:a16="http://schemas.microsoft.com/office/drawing/2014/main" id="{9343CACA-4881-5DE9-2E90-A2E897B58A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65C47D-CF0F-61F2-F67C-3FA6B37DFE0F}"/>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11266033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D56E-0FD5-DF7C-68EA-DC17E48FB85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ECEF17-38CD-3751-C4AB-BFDB19B38146}"/>
              </a:ext>
            </a:extLst>
          </p:cNvPr>
          <p:cNvSpPr>
            <a:spLocks noGrp="1"/>
          </p:cNvSpPr>
          <p:nvPr>
            <p:ph type="dt" sz="half" idx="10"/>
          </p:nvPr>
        </p:nvSpPr>
        <p:spPr/>
        <p:txBody>
          <a:bodyPr/>
          <a:lstStyle/>
          <a:p>
            <a:fld id="{76E1380B-202A-4ADB-8029-48BBD470229E}" type="datetimeFigureOut">
              <a:rPr lang="en-IN" smtClean="0"/>
              <a:t>17-09-2026</a:t>
            </a:fld>
            <a:endParaRPr lang="en-IN"/>
          </a:p>
        </p:txBody>
      </p:sp>
      <p:sp>
        <p:nvSpPr>
          <p:cNvPr id="4" name="Footer Placeholder 3">
            <a:extLst>
              <a:ext uri="{FF2B5EF4-FFF2-40B4-BE49-F238E27FC236}">
                <a16:creationId xmlns:a16="http://schemas.microsoft.com/office/drawing/2014/main" id="{BFE1B887-6CEF-B818-C9CD-7158F0CB4C0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162570-4204-8E32-5E71-D489A80AC459}"/>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29867732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24B40E-1EAA-8AEF-A416-C770A8908ACD}"/>
              </a:ext>
            </a:extLst>
          </p:cNvPr>
          <p:cNvSpPr>
            <a:spLocks noGrp="1"/>
          </p:cNvSpPr>
          <p:nvPr>
            <p:ph type="dt" sz="half" idx="10"/>
          </p:nvPr>
        </p:nvSpPr>
        <p:spPr/>
        <p:txBody>
          <a:bodyPr/>
          <a:lstStyle/>
          <a:p>
            <a:fld id="{76E1380B-202A-4ADB-8029-48BBD470229E}" type="datetimeFigureOut">
              <a:rPr lang="en-IN" smtClean="0"/>
              <a:t>17-09-2026</a:t>
            </a:fld>
            <a:endParaRPr lang="en-IN"/>
          </a:p>
        </p:txBody>
      </p:sp>
      <p:sp>
        <p:nvSpPr>
          <p:cNvPr id="3" name="Footer Placeholder 2">
            <a:extLst>
              <a:ext uri="{FF2B5EF4-FFF2-40B4-BE49-F238E27FC236}">
                <a16:creationId xmlns:a16="http://schemas.microsoft.com/office/drawing/2014/main" id="{D02FFDCD-940D-8E1E-9D26-08F41DA47ED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D96120-56E0-1BBB-23FC-05FE959F6D98}"/>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3580253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A1CC4-88F2-23FF-E085-E181C9A181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8AF40E-38A7-7E2D-2733-B41FFF7153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A9763F-CA21-1637-4481-44386C9C7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F77FE0-8C6A-51DF-1EB7-01E8E90E4AA4}"/>
              </a:ext>
            </a:extLst>
          </p:cNvPr>
          <p:cNvSpPr>
            <a:spLocks noGrp="1"/>
          </p:cNvSpPr>
          <p:nvPr>
            <p:ph type="dt" sz="half" idx="10"/>
          </p:nvPr>
        </p:nvSpPr>
        <p:spPr/>
        <p:txBody>
          <a:bodyPr/>
          <a:lstStyle/>
          <a:p>
            <a:fld id="{76E1380B-202A-4ADB-8029-48BBD470229E}" type="datetimeFigureOut">
              <a:rPr lang="en-IN" smtClean="0"/>
              <a:t>17-09-2026</a:t>
            </a:fld>
            <a:endParaRPr lang="en-IN"/>
          </a:p>
        </p:txBody>
      </p:sp>
      <p:sp>
        <p:nvSpPr>
          <p:cNvPr id="6" name="Footer Placeholder 5">
            <a:extLst>
              <a:ext uri="{FF2B5EF4-FFF2-40B4-BE49-F238E27FC236}">
                <a16:creationId xmlns:a16="http://schemas.microsoft.com/office/drawing/2014/main" id="{34A3CFB1-188A-8165-AB6D-45C8E757C3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FDCC21-6BBD-3BC0-E487-0F68528AD8CA}"/>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23160252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5EBEA-D782-5BC7-7866-4733364F6B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159654B-1A8B-CFF6-7B0C-005A1009B0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76E49E8-EAD9-5366-72B0-C79C02262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073613-FE95-9ECA-EB7B-2A9D74612556}"/>
              </a:ext>
            </a:extLst>
          </p:cNvPr>
          <p:cNvSpPr>
            <a:spLocks noGrp="1"/>
          </p:cNvSpPr>
          <p:nvPr>
            <p:ph type="dt" sz="half" idx="10"/>
          </p:nvPr>
        </p:nvSpPr>
        <p:spPr/>
        <p:txBody>
          <a:bodyPr/>
          <a:lstStyle/>
          <a:p>
            <a:fld id="{76E1380B-202A-4ADB-8029-48BBD470229E}" type="datetimeFigureOut">
              <a:rPr lang="en-IN" smtClean="0"/>
              <a:t>17-09-2026</a:t>
            </a:fld>
            <a:endParaRPr lang="en-IN"/>
          </a:p>
        </p:txBody>
      </p:sp>
      <p:sp>
        <p:nvSpPr>
          <p:cNvPr id="6" name="Footer Placeholder 5">
            <a:extLst>
              <a:ext uri="{FF2B5EF4-FFF2-40B4-BE49-F238E27FC236}">
                <a16:creationId xmlns:a16="http://schemas.microsoft.com/office/drawing/2014/main" id="{F1936428-F07B-7E31-8930-3DD7736AA8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14FA89-AAD0-FD26-26D2-8AE3B750DF7E}"/>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7550833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C3271-7728-ABFE-08BA-08541D5CD1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785F53-745D-5FE5-E22B-4FC16E8183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91A46D-ED0A-47EE-B5CC-D9E4A65443EF}"/>
              </a:ext>
            </a:extLst>
          </p:cNvPr>
          <p:cNvSpPr>
            <a:spLocks noGrp="1"/>
          </p:cNvSpPr>
          <p:nvPr>
            <p:ph type="dt" sz="half" idx="10"/>
          </p:nvPr>
        </p:nvSpPr>
        <p:spPr/>
        <p:txBody>
          <a:bodyPr/>
          <a:lstStyle/>
          <a:p>
            <a:fld id="{76E1380B-202A-4ADB-8029-48BBD470229E}" type="datetimeFigureOut">
              <a:rPr lang="en-IN" smtClean="0"/>
              <a:t>17-09-2026</a:t>
            </a:fld>
            <a:endParaRPr lang="en-IN"/>
          </a:p>
        </p:txBody>
      </p:sp>
      <p:sp>
        <p:nvSpPr>
          <p:cNvPr id="5" name="Footer Placeholder 4">
            <a:extLst>
              <a:ext uri="{FF2B5EF4-FFF2-40B4-BE49-F238E27FC236}">
                <a16:creationId xmlns:a16="http://schemas.microsoft.com/office/drawing/2014/main" id="{732E6DF1-BEF5-405C-EC8A-859610E7C7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B1E7E2-BB0D-D28E-849A-92453DFC87BB}"/>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1075577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CC6B7D-EBAA-5823-1636-5EA5EA30D1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766CC8-A554-43B7-760F-9F5408002E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4E45D6-8674-FF12-EC6D-CE372CB35266}"/>
              </a:ext>
            </a:extLst>
          </p:cNvPr>
          <p:cNvSpPr>
            <a:spLocks noGrp="1"/>
          </p:cNvSpPr>
          <p:nvPr>
            <p:ph type="dt" sz="half" idx="10"/>
          </p:nvPr>
        </p:nvSpPr>
        <p:spPr/>
        <p:txBody>
          <a:bodyPr/>
          <a:lstStyle/>
          <a:p>
            <a:fld id="{76E1380B-202A-4ADB-8029-48BBD470229E}" type="datetimeFigureOut">
              <a:rPr lang="en-IN" smtClean="0"/>
              <a:t>17-09-2026</a:t>
            </a:fld>
            <a:endParaRPr lang="en-IN"/>
          </a:p>
        </p:txBody>
      </p:sp>
      <p:sp>
        <p:nvSpPr>
          <p:cNvPr id="5" name="Footer Placeholder 4">
            <a:extLst>
              <a:ext uri="{FF2B5EF4-FFF2-40B4-BE49-F238E27FC236}">
                <a16:creationId xmlns:a16="http://schemas.microsoft.com/office/drawing/2014/main" id="{C1A890E8-91DF-413A-1873-F275B46FD0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B37097-10DF-5E03-AD3E-B798B827FB8B}"/>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19647205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88FD6-BCD6-50E3-0A0B-27179724EDE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8715FC-D600-14D3-5DDC-00423997BB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74977AE-DE86-2732-829C-69B67324C93E}"/>
              </a:ext>
            </a:extLst>
          </p:cNvPr>
          <p:cNvSpPr>
            <a:spLocks noGrp="1"/>
          </p:cNvSpPr>
          <p:nvPr>
            <p:ph type="dt" sz="half" idx="10"/>
          </p:nvPr>
        </p:nvSpPr>
        <p:spPr/>
        <p:txBody>
          <a:bodyPr/>
          <a:lstStyle/>
          <a:p>
            <a:fld id="{4FCF3042-9457-4066-8C5E-A728C46299CF}" type="datetimeFigureOut">
              <a:rPr lang="en-IN" smtClean="0"/>
              <a:t>17-09-2026</a:t>
            </a:fld>
            <a:endParaRPr lang="en-IN"/>
          </a:p>
        </p:txBody>
      </p:sp>
      <p:sp>
        <p:nvSpPr>
          <p:cNvPr id="5" name="Footer Placeholder 4">
            <a:extLst>
              <a:ext uri="{FF2B5EF4-FFF2-40B4-BE49-F238E27FC236}">
                <a16:creationId xmlns:a16="http://schemas.microsoft.com/office/drawing/2014/main" id="{C0013E8A-91A9-9A7D-186B-AD49208762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11FED8-C4C2-8034-3FB9-CE6B054460B0}"/>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40116977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69710-3765-D9FB-BF3B-0AC5C93BCB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3AEEBF-1BBE-3437-B26A-A1C6D70E6D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93C8A5-EBFE-C563-9916-CB396228DF3F}"/>
              </a:ext>
            </a:extLst>
          </p:cNvPr>
          <p:cNvSpPr>
            <a:spLocks noGrp="1"/>
          </p:cNvSpPr>
          <p:nvPr>
            <p:ph type="dt" sz="half" idx="10"/>
          </p:nvPr>
        </p:nvSpPr>
        <p:spPr/>
        <p:txBody>
          <a:bodyPr/>
          <a:lstStyle/>
          <a:p>
            <a:fld id="{4FCF3042-9457-4066-8C5E-A728C46299CF}" type="datetimeFigureOut">
              <a:rPr lang="en-IN" smtClean="0"/>
              <a:t>17-09-2026</a:t>
            </a:fld>
            <a:endParaRPr lang="en-IN"/>
          </a:p>
        </p:txBody>
      </p:sp>
      <p:sp>
        <p:nvSpPr>
          <p:cNvPr id="5" name="Footer Placeholder 4">
            <a:extLst>
              <a:ext uri="{FF2B5EF4-FFF2-40B4-BE49-F238E27FC236}">
                <a16:creationId xmlns:a16="http://schemas.microsoft.com/office/drawing/2014/main" id="{69EBC35D-475F-CFB2-50D3-4EF26912F2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FA3E53-1DFA-7B31-C713-4C0D7665F6AD}"/>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30332997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2F31A-53EF-48A6-F1B7-FCAA38A4E794}"/>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F19282-EBAA-2E6C-B5D0-2BD02E282D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D06B2D-4A8F-5B64-54A6-5EEA1E3DFCFF}"/>
              </a:ext>
            </a:extLst>
          </p:cNvPr>
          <p:cNvSpPr>
            <a:spLocks noGrp="1"/>
          </p:cNvSpPr>
          <p:nvPr>
            <p:ph type="dt" sz="half" idx="10"/>
          </p:nvPr>
        </p:nvSpPr>
        <p:spPr/>
        <p:txBody>
          <a:bodyPr/>
          <a:lstStyle/>
          <a:p>
            <a:fld id="{4FCF3042-9457-4066-8C5E-A728C46299CF}" type="datetimeFigureOut">
              <a:rPr lang="en-IN" smtClean="0"/>
              <a:t>17-09-2026</a:t>
            </a:fld>
            <a:endParaRPr lang="en-IN"/>
          </a:p>
        </p:txBody>
      </p:sp>
      <p:sp>
        <p:nvSpPr>
          <p:cNvPr id="5" name="Footer Placeholder 4">
            <a:extLst>
              <a:ext uri="{FF2B5EF4-FFF2-40B4-BE49-F238E27FC236}">
                <a16:creationId xmlns:a16="http://schemas.microsoft.com/office/drawing/2014/main" id="{C30E9BE5-38E4-41A8-BEE2-74BD78D472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D7004C-7F2F-5B27-5D32-445CD1C858A1}"/>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7568086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F45D6-5E5D-2827-FD1E-60B56940238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588AC93-C419-2CD1-9FC6-AE42E2B69A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7345EBA-BD5C-A6FF-80EB-9D0D167861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FC9E9C6-BB6B-9F89-6728-83533563F9CD}"/>
              </a:ext>
            </a:extLst>
          </p:cNvPr>
          <p:cNvSpPr>
            <a:spLocks noGrp="1"/>
          </p:cNvSpPr>
          <p:nvPr>
            <p:ph type="dt" sz="half" idx="10"/>
          </p:nvPr>
        </p:nvSpPr>
        <p:spPr/>
        <p:txBody>
          <a:bodyPr/>
          <a:lstStyle/>
          <a:p>
            <a:fld id="{4FCF3042-9457-4066-8C5E-A728C46299CF}" type="datetimeFigureOut">
              <a:rPr lang="en-IN" smtClean="0"/>
              <a:t>17-09-2026</a:t>
            </a:fld>
            <a:endParaRPr lang="en-IN"/>
          </a:p>
        </p:txBody>
      </p:sp>
      <p:sp>
        <p:nvSpPr>
          <p:cNvPr id="6" name="Footer Placeholder 5">
            <a:extLst>
              <a:ext uri="{FF2B5EF4-FFF2-40B4-BE49-F238E27FC236}">
                <a16:creationId xmlns:a16="http://schemas.microsoft.com/office/drawing/2014/main" id="{62AD7458-A7D6-9FDD-36AB-1C355C6C3C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105FA4-CC24-7C7C-A532-B373363D066F}"/>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8748961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6F29B-C364-3C85-9F33-458B4F4B2DA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79D6EF-30CF-C565-01E4-4E4995566B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6D05A6-7A71-B3B0-F013-E7DD32567D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33F03AE-E67D-BA4A-EDE9-7ED6446469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412A95-0108-4305-9DD8-084EB84EC4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154DE32-970C-2086-BD83-DD9B1A0D36C5}"/>
              </a:ext>
            </a:extLst>
          </p:cNvPr>
          <p:cNvSpPr>
            <a:spLocks noGrp="1"/>
          </p:cNvSpPr>
          <p:nvPr>
            <p:ph type="dt" sz="half" idx="10"/>
          </p:nvPr>
        </p:nvSpPr>
        <p:spPr/>
        <p:txBody>
          <a:bodyPr/>
          <a:lstStyle/>
          <a:p>
            <a:fld id="{4FCF3042-9457-4066-8C5E-A728C46299CF}" type="datetimeFigureOut">
              <a:rPr lang="en-IN" smtClean="0"/>
              <a:t>17-09-2026</a:t>
            </a:fld>
            <a:endParaRPr lang="en-IN"/>
          </a:p>
        </p:txBody>
      </p:sp>
      <p:sp>
        <p:nvSpPr>
          <p:cNvPr id="8" name="Footer Placeholder 7">
            <a:extLst>
              <a:ext uri="{FF2B5EF4-FFF2-40B4-BE49-F238E27FC236}">
                <a16:creationId xmlns:a16="http://schemas.microsoft.com/office/drawing/2014/main" id="{7D3B36E7-364D-C3CC-C4F2-7689287A8F8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0D10CA-0A20-361F-D7AA-189EB9B5248B}"/>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4894186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856B8-5AB4-8CA9-2A68-C8448AFE6A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198FFDD-0D19-087E-C4C4-3DDC78364B55}"/>
              </a:ext>
            </a:extLst>
          </p:cNvPr>
          <p:cNvSpPr>
            <a:spLocks noGrp="1"/>
          </p:cNvSpPr>
          <p:nvPr>
            <p:ph type="dt" sz="half" idx="10"/>
          </p:nvPr>
        </p:nvSpPr>
        <p:spPr/>
        <p:txBody>
          <a:bodyPr/>
          <a:lstStyle/>
          <a:p>
            <a:fld id="{4FCF3042-9457-4066-8C5E-A728C46299CF}" type="datetimeFigureOut">
              <a:rPr lang="en-IN" smtClean="0"/>
              <a:t>17-09-2026</a:t>
            </a:fld>
            <a:endParaRPr lang="en-IN"/>
          </a:p>
        </p:txBody>
      </p:sp>
      <p:sp>
        <p:nvSpPr>
          <p:cNvPr id="4" name="Footer Placeholder 3">
            <a:extLst>
              <a:ext uri="{FF2B5EF4-FFF2-40B4-BE49-F238E27FC236}">
                <a16:creationId xmlns:a16="http://schemas.microsoft.com/office/drawing/2014/main" id="{B1F7418C-237A-D9C4-5BB9-65F45E43B0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61E1A3C-CA6A-DBF9-3EC0-EAE3556E40BC}"/>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6542905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A8A2BD-86AB-022B-0471-10E419A4AC32}"/>
              </a:ext>
            </a:extLst>
          </p:cNvPr>
          <p:cNvSpPr>
            <a:spLocks noGrp="1"/>
          </p:cNvSpPr>
          <p:nvPr>
            <p:ph type="dt" sz="half" idx="10"/>
          </p:nvPr>
        </p:nvSpPr>
        <p:spPr/>
        <p:txBody>
          <a:bodyPr/>
          <a:lstStyle/>
          <a:p>
            <a:fld id="{4FCF3042-9457-4066-8C5E-A728C46299CF}" type="datetimeFigureOut">
              <a:rPr lang="en-IN" smtClean="0"/>
              <a:t>17-09-2026</a:t>
            </a:fld>
            <a:endParaRPr lang="en-IN"/>
          </a:p>
        </p:txBody>
      </p:sp>
      <p:sp>
        <p:nvSpPr>
          <p:cNvPr id="3" name="Footer Placeholder 2">
            <a:extLst>
              <a:ext uri="{FF2B5EF4-FFF2-40B4-BE49-F238E27FC236}">
                <a16:creationId xmlns:a16="http://schemas.microsoft.com/office/drawing/2014/main" id="{BE1AE599-C3F5-0A87-1BDF-0A00F4F96D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868FB37-60C0-EFA6-A8F7-0FE9F3C70513}"/>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32084794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25D5A-EDD9-B428-5145-1CFA01D665A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A82E5E3-23C5-C25E-7E1D-CE259CC58C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0BE691-C863-C931-7917-C7369D60A6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D84DAA-FACE-0D9B-6D5D-8493AAAD6A76}"/>
              </a:ext>
            </a:extLst>
          </p:cNvPr>
          <p:cNvSpPr>
            <a:spLocks noGrp="1"/>
          </p:cNvSpPr>
          <p:nvPr>
            <p:ph type="dt" sz="half" idx="10"/>
          </p:nvPr>
        </p:nvSpPr>
        <p:spPr/>
        <p:txBody>
          <a:bodyPr/>
          <a:lstStyle/>
          <a:p>
            <a:fld id="{4FCF3042-9457-4066-8C5E-A728C46299CF}" type="datetimeFigureOut">
              <a:rPr lang="en-IN" smtClean="0"/>
              <a:t>17-09-2026</a:t>
            </a:fld>
            <a:endParaRPr lang="en-IN"/>
          </a:p>
        </p:txBody>
      </p:sp>
      <p:sp>
        <p:nvSpPr>
          <p:cNvPr id="6" name="Footer Placeholder 5">
            <a:extLst>
              <a:ext uri="{FF2B5EF4-FFF2-40B4-BE49-F238E27FC236}">
                <a16:creationId xmlns:a16="http://schemas.microsoft.com/office/drawing/2014/main" id="{A4A0A0E5-937D-F99C-BEE5-92B1D193EC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A2A5B6-8257-EB0A-DB50-6DA887DBAF0C}"/>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0175674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9BC89-9E28-F64D-235D-01C064FAB959}"/>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391578-F9AF-3032-C137-CA4AEA5E27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FDC878-E222-0A6A-CC8C-BD85FB1E3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C0F4CC-59C2-58F9-6DDF-C7CC3C54AC55}"/>
              </a:ext>
            </a:extLst>
          </p:cNvPr>
          <p:cNvSpPr>
            <a:spLocks noGrp="1"/>
          </p:cNvSpPr>
          <p:nvPr>
            <p:ph type="dt" sz="half" idx="10"/>
          </p:nvPr>
        </p:nvSpPr>
        <p:spPr/>
        <p:txBody>
          <a:bodyPr/>
          <a:lstStyle/>
          <a:p>
            <a:fld id="{4FCF3042-9457-4066-8C5E-A728C46299CF}" type="datetimeFigureOut">
              <a:rPr lang="en-IN" smtClean="0"/>
              <a:t>17-09-2026</a:t>
            </a:fld>
            <a:endParaRPr lang="en-IN"/>
          </a:p>
        </p:txBody>
      </p:sp>
      <p:sp>
        <p:nvSpPr>
          <p:cNvPr id="6" name="Footer Placeholder 5">
            <a:extLst>
              <a:ext uri="{FF2B5EF4-FFF2-40B4-BE49-F238E27FC236}">
                <a16:creationId xmlns:a16="http://schemas.microsoft.com/office/drawing/2014/main" id="{FA56E46E-A612-8C9F-02A3-D9FD58B253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FA379D-7644-7796-AB55-8757BB81AE7D}"/>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6860518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90A78-5875-0061-40F7-D4E41FF03C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3D6357-7A68-125E-F1BB-A844788495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C09C4D-FB71-8B9C-090B-C5783F9DEAB5}"/>
              </a:ext>
            </a:extLst>
          </p:cNvPr>
          <p:cNvSpPr>
            <a:spLocks noGrp="1"/>
          </p:cNvSpPr>
          <p:nvPr>
            <p:ph type="dt" sz="half" idx="10"/>
          </p:nvPr>
        </p:nvSpPr>
        <p:spPr/>
        <p:txBody>
          <a:bodyPr/>
          <a:lstStyle/>
          <a:p>
            <a:fld id="{4FCF3042-9457-4066-8C5E-A728C46299CF}" type="datetimeFigureOut">
              <a:rPr lang="en-IN" smtClean="0"/>
              <a:t>17-09-2026</a:t>
            </a:fld>
            <a:endParaRPr lang="en-IN"/>
          </a:p>
        </p:txBody>
      </p:sp>
      <p:sp>
        <p:nvSpPr>
          <p:cNvPr id="5" name="Footer Placeholder 4">
            <a:extLst>
              <a:ext uri="{FF2B5EF4-FFF2-40B4-BE49-F238E27FC236}">
                <a16:creationId xmlns:a16="http://schemas.microsoft.com/office/drawing/2014/main" id="{EF226D23-9858-0ECB-6B80-E383570168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146D52-1972-9CF4-90D4-7EAAE15673D6}"/>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38865826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C00B9-AC54-17A0-9131-1DBCAC91AD8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8226FF-F990-51BE-8511-27FEDD3947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C5C954-72E3-C9B3-4BB6-39EB7625982E}"/>
              </a:ext>
            </a:extLst>
          </p:cNvPr>
          <p:cNvSpPr>
            <a:spLocks noGrp="1"/>
          </p:cNvSpPr>
          <p:nvPr>
            <p:ph type="dt" sz="half" idx="10"/>
          </p:nvPr>
        </p:nvSpPr>
        <p:spPr/>
        <p:txBody>
          <a:bodyPr/>
          <a:lstStyle/>
          <a:p>
            <a:fld id="{4FCF3042-9457-4066-8C5E-A728C46299CF}" type="datetimeFigureOut">
              <a:rPr lang="en-IN" smtClean="0"/>
              <a:t>17-09-2026</a:t>
            </a:fld>
            <a:endParaRPr lang="en-IN"/>
          </a:p>
        </p:txBody>
      </p:sp>
      <p:sp>
        <p:nvSpPr>
          <p:cNvPr id="5" name="Footer Placeholder 4">
            <a:extLst>
              <a:ext uri="{FF2B5EF4-FFF2-40B4-BE49-F238E27FC236}">
                <a16:creationId xmlns:a16="http://schemas.microsoft.com/office/drawing/2014/main" id="{73143D11-1971-0E5A-C0D6-692CB55440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39AD57-F2AF-2E46-C454-C8E1AF40B439}"/>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4142086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35914313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2322073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5449C2-1BC0-4712-B87F-A46355E94878}"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39181183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5449C2-1BC0-4712-B87F-A46355E94878}" type="datetimeFigureOut">
              <a:rPr lang="en-IN" smtClean="0"/>
              <a:t>17-09-2026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6107276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5449C2-1BC0-4712-B87F-A46355E94878}" type="datetimeFigureOut">
              <a:rPr lang="en-IN" smtClean="0"/>
              <a:t>17-09-2026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33385092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5449C2-1BC0-4712-B87F-A46355E94878}" type="datetimeFigureOut">
              <a:rPr lang="en-IN" smtClean="0"/>
              <a:t>17-09-2026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4235643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5449C2-1BC0-4712-B87F-A46355E94878}" type="datetimeFigureOut">
              <a:rPr lang="en-IN" smtClean="0"/>
              <a:t>17-09-2026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41907332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869110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5449C2-1BC0-4712-B87F-A46355E94878}" type="datetimeFigureOut">
              <a:rPr lang="en-IN" smtClean="0"/>
              <a:t>17-09-2026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105179786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944113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34299156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3896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6B5D22-ED43-B9AC-E8A9-880737788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583EB0-98B5-F93C-94DB-C00E242CDD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470165-6173-C423-6D40-4FD72CB096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BD89FD-1150-4979-9614-9DD9EB69C9AA}" type="datetimeFigureOut">
              <a:rPr lang="en-IN" smtClean="0"/>
              <a:t>17-09-2026</a:t>
            </a:fld>
            <a:endParaRPr lang="en-IN"/>
          </a:p>
        </p:txBody>
      </p:sp>
      <p:sp>
        <p:nvSpPr>
          <p:cNvPr id="5" name="Footer Placeholder 4">
            <a:extLst>
              <a:ext uri="{FF2B5EF4-FFF2-40B4-BE49-F238E27FC236}">
                <a16:creationId xmlns:a16="http://schemas.microsoft.com/office/drawing/2014/main" id="{0EE5ADCD-ADE6-6D82-B2EF-82963F61BD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637BA67-9B2E-019B-174B-578A8E1738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1D4DB-F3A0-4149-BE4E-F155135AE119}" type="slidenum">
              <a:rPr lang="en-IN" smtClean="0"/>
              <a:t>‹#›</a:t>
            </a:fld>
            <a:endParaRPr lang="en-IN"/>
          </a:p>
        </p:txBody>
      </p:sp>
    </p:spTree>
    <p:extLst>
      <p:ext uri="{BB962C8B-B14F-4D97-AF65-F5344CB8AC3E}">
        <p14:creationId xmlns:p14="http://schemas.microsoft.com/office/powerpoint/2010/main" val="3203345564"/>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0CBE7B-BF07-7F1A-B734-4812FD19E9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BE36C3-7221-4821-FFDF-2C3212B063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BFE97E-49C2-026F-AF69-49D62509C2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E1380B-202A-4ADB-8029-48BBD470229E}" type="datetimeFigureOut">
              <a:rPr lang="en-IN" smtClean="0"/>
              <a:t>17-09-2026</a:t>
            </a:fld>
            <a:endParaRPr lang="en-IN"/>
          </a:p>
        </p:txBody>
      </p:sp>
      <p:sp>
        <p:nvSpPr>
          <p:cNvPr id="5" name="Footer Placeholder 4">
            <a:extLst>
              <a:ext uri="{FF2B5EF4-FFF2-40B4-BE49-F238E27FC236}">
                <a16:creationId xmlns:a16="http://schemas.microsoft.com/office/drawing/2014/main" id="{0B3594C0-D29D-84E3-A127-37FC25DB7D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DAB4BA9-2607-136F-0D6C-48184857D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6E0C2F-4780-48A0-B75F-48779EFC8E36}" type="slidenum">
              <a:rPr lang="en-IN" smtClean="0"/>
              <a:t>‹#›</a:t>
            </a:fld>
            <a:endParaRPr lang="en-IN"/>
          </a:p>
        </p:txBody>
      </p:sp>
    </p:spTree>
    <p:extLst>
      <p:ext uri="{BB962C8B-B14F-4D97-AF65-F5344CB8AC3E}">
        <p14:creationId xmlns:p14="http://schemas.microsoft.com/office/powerpoint/2010/main" val="1006655309"/>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CAE7C7-C77B-E7F0-C90A-816659C356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0A25FFFF-FC5F-0CA4-EC43-1522DC94DE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CF3042-9457-4066-8C5E-A728C46299CF}" type="datetimeFigureOut">
              <a:rPr lang="en-IN" smtClean="0"/>
              <a:t>17-09-2026</a:t>
            </a:fld>
            <a:endParaRPr lang="en-IN"/>
          </a:p>
        </p:txBody>
      </p:sp>
      <p:sp>
        <p:nvSpPr>
          <p:cNvPr id="5" name="Footer Placeholder 4">
            <a:extLst>
              <a:ext uri="{FF2B5EF4-FFF2-40B4-BE49-F238E27FC236}">
                <a16:creationId xmlns:a16="http://schemas.microsoft.com/office/drawing/2014/main" id="{1DD31B25-21B2-599E-8779-990350E80D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137C28A-80E3-A329-704C-FFC7E4B7F9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DF97F-319F-4908-B1AB-753E26D9D849}" type="slidenum">
              <a:rPr lang="en-IN" smtClean="0"/>
              <a:t>‹#›</a:t>
            </a:fld>
            <a:endParaRPr lang="en-IN"/>
          </a:p>
        </p:txBody>
      </p:sp>
      <p:pic>
        <p:nvPicPr>
          <p:cNvPr id="7" name="Picture 6">
            <a:extLst>
              <a:ext uri="{FF2B5EF4-FFF2-40B4-BE49-F238E27FC236}">
                <a16:creationId xmlns:a16="http://schemas.microsoft.com/office/drawing/2014/main" id="{976ECDB2-D6B7-EFA7-C691-CE763FD3D534}"/>
              </a:ext>
            </a:extLst>
          </p:cNvPr>
          <p:cNvPicPr/>
          <p:nvPr userDrawn="1"/>
        </p:nvPicPr>
        <p:blipFill>
          <a:blip r:embed="rId13"/>
          <a:stretch>
            <a:fillRect/>
          </a:stretch>
        </p:blipFill>
        <p:spPr>
          <a:xfrm>
            <a:off x="0" y="0"/>
            <a:ext cx="1912373" cy="1035233"/>
          </a:xfrm>
          <a:prstGeom prst="rect">
            <a:avLst/>
          </a:prstGeom>
          <a:noFill/>
          <a:ln w="9525">
            <a:noFill/>
          </a:ln>
        </p:spPr>
      </p:pic>
    </p:spTree>
    <p:extLst>
      <p:ext uri="{BB962C8B-B14F-4D97-AF65-F5344CB8AC3E}">
        <p14:creationId xmlns:p14="http://schemas.microsoft.com/office/powerpoint/2010/main" val="322023760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BD89FD-1150-4979-9614-9DD9EB69C9AA}" type="datetimeFigureOut">
              <a:rPr lang="en-IN" smtClean="0"/>
              <a:t>17-09-2026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1D4DB-F3A0-4149-BE4E-F155135AE119}" type="slidenum">
              <a:rPr lang="en-IN" smtClean="0"/>
              <a:t>‹#›</a:t>
            </a:fld>
            <a:endParaRPr lang="en-IN"/>
          </a:p>
        </p:txBody>
      </p:sp>
      <p:pic>
        <p:nvPicPr>
          <p:cNvPr id="7" name="Picture 6">
            <a:extLst>
              <a:ext uri="{FF2B5EF4-FFF2-40B4-BE49-F238E27FC236}">
                <a16:creationId xmlns:a16="http://schemas.microsoft.com/office/drawing/2014/main" id="{B7A06C70-E092-D371-A213-D2FAC30D48C2}"/>
              </a:ext>
            </a:extLst>
          </p:cNvPr>
          <p:cNvPicPr/>
          <p:nvPr userDrawn="1"/>
        </p:nvPicPr>
        <p:blipFill>
          <a:blip r:embed="rId14"/>
          <a:stretch>
            <a:fillRect/>
          </a:stretch>
        </p:blipFill>
        <p:spPr>
          <a:xfrm>
            <a:off x="0" y="39577"/>
            <a:ext cx="1912373" cy="1035233"/>
          </a:xfrm>
          <a:prstGeom prst="rect">
            <a:avLst/>
          </a:prstGeom>
          <a:noFill/>
          <a:ln w="9525">
            <a:noFill/>
          </a:ln>
        </p:spPr>
      </p:pic>
    </p:spTree>
    <p:extLst>
      <p:ext uri="{BB962C8B-B14F-4D97-AF65-F5344CB8AC3E}">
        <p14:creationId xmlns:p14="http://schemas.microsoft.com/office/powerpoint/2010/main" val="3217939247"/>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0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91B5C2-4C0B-E2C4-1889-F1184977CF64}"/>
              </a:ext>
            </a:extLst>
          </p:cNvPr>
          <p:cNvPicPr/>
          <p:nvPr/>
        </p:nvPicPr>
        <p:blipFill>
          <a:blip r:embed="rId3"/>
          <a:stretch>
            <a:fillRect/>
          </a:stretch>
        </p:blipFill>
        <p:spPr>
          <a:xfrm>
            <a:off x="0" y="0"/>
            <a:ext cx="1912373" cy="1035233"/>
          </a:xfrm>
          <a:prstGeom prst="rect">
            <a:avLst/>
          </a:prstGeom>
          <a:noFill/>
          <a:ln w="9525">
            <a:noFill/>
          </a:ln>
        </p:spPr>
      </p:pic>
      <p:sp>
        <p:nvSpPr>
          <p:cNvPr id="8" name="Text Placeholder 6">
            <a:extLst>
              <a:ext uri="{FF2B5EF4-FFF2-40B4-BE49-F238E27FC236}">
                <a16:creationId xmlns:a16="http://schemas.microsoft.com/office/drawing/2014/main" id="{32823A3D-2D05-3E2C-A45E-040FADD03327}"/>
              </a:ext>
            </a:extLst>
          </p:cNvPr>
          <p:cNvSpPr txBox="1">
            <a:spLocks/>
          </p:cNvSpPr>
          <p:nvPr/>
        </p:nvSpPr>
        <p:spPr>
          <a:xfrm>
            <a:off x="853694"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sp>
        <p:nvSpPr>
          <p:cNvPr id="2" name="Title 1">
            <a:extLst>
              <a:ext uri="{FF2B5EF4-FFF2-40B4-BE49-F238E27FC236}">
                <a16:creationId xmlns:a16="http://schemas.microsoft.com/office/drawing/2014/main" id="{8528DE82-C5E5-81ED-279C-247B47B57F12}"/>
              </a:ext>
            </a:extLst>
          </p:cNvPr>
          <p:cNvSpPr>
            <a:spLocks noGrp="1"/>
          </p:cNvSpPr>
          <p:nvPr>
            <p:ph type="ctrTitle"/>
          </p:nvPr>
        </p:nvSpPr>
        <p:spPr>
          <a:xfrm>
            <a:off x="1539494" y="517616"/>
            <a:ext cx="9144000" cy="2387600"/>
          </a:xfrm>
        </p:spPr>
        <p:txBody>
          <a:bodyPr>
            <a:normAutofit/>
          </a:bodyPr>
          <a:lstStyle/>
          <a:p>
            <a:pPr marR="0" lvl="0" indent="0">
              <a:spcBef>
                <a:spcPts val="0"/>
              </a:spcBef>
              <a:spcAft>
                <a:spcPts val="0"/>
              </a:spcAft>
            </a:pPr>
            <a:r>
              <a:rPr lang="en-IN" sz="3200" b="1" dirty="0">
                <a:latin typeface="Times New Roman" panose="02020603050405020304" pitchFamily="18" charset="0"/>
                <a:cs typeface="Times New Roman" panose="02020603050405020304" pitchFamily="18" charset="0"/>
              </a:rPr>
              <a:t>AI-Powered Adaptive Disaster Management and Intelligent Evacuation Route Recommendation System</a:t>
            </a:r>
          </a:p>
        </p:txBody>
      </p:sp>
      <p:sp>
        <p:nvSpPr>
          <p:cNvPr id="3" name="Subtitle 2">
            <a:extLst>
              <a:ext uri="{FF2B5EF4-FFF2-40B4-BE49-F238E27FC236}">
                <a16:creationId xmlns:a16="http://schemas.microsoft.com/office/drawing/2014/main" id="{5F77B31E-09B8-20A6-291A-404A4807B446}"/>
              </a:ext>
            </a:extLst>
          </p:cNvPr>
          <p:cNvSpPr>
            <a:spLocks noGrp="1"/>
          </p:cNvSpPr>
          <p:nvPr>
            <p:ph type="subTitle" idx="1"/>
          </p:nvPr>
        </p:nvSpPr>
        <p:spPr>
          <a:xfrm>
            <a:off x="1524000" y="3422832"/>
            <a:ext cx="9159494" cy="2917552"/>
          </a:xfrm>
        </p:spPr>
        <p:txBody>
          <a:bodyPr>
            <a:normAutofit fontScale="47500" lnSpcReduction="20000"/>
          </a:bodyPr>
          <a:lstStyle/>
          <a:p>
            <a:pPr>
              <a:lnSpc>
                <a:spcPct val="120000"/>
              </a:lnSpc>
            </a:pPr>
            <a:r>
              <a:rPr lang="en-IN" sz="3200" b="1" dirty="0">
                <a:latin typeface="Times New Roman" panose="02020603050405020304" pitchFamily="18" charset="0"/>
                <a:cs typeface="Times New Roman" panose="02020603050405020304" pitchFamily="18" charset="0"/>
              </a:rPr>
              <a:t>Team Members:</a:t>
            </a:r>
            <a:endParaRPr lang="en-IN" sz="3200" dirty="0">
              <a:latin typeface="Times New Roman" panose="02020603050405020304" pitchFamily="18" charset="0"/>
              <a:cs typeface="Times New Roman" panose="02020603050405020304" pitchFamily="18" charset="0"/>
            </a:endParaRPr>
          </a:p>
          <a:p>
            <a:pPr lvl="0">
              <a:lnSpc>
                <a:spcPct val="120000"/>
              </a:lnSpc>
            </a:pPr>
            <a:r>
              <a:rPr lang="en-IN" sz="3200" dirty="0">
                <a:latin typeface="Times New Roman" panose="02020603050405020304" pitchFamily="18" charset="0"/>
                <a:cs typeface="Times New Roman" panose="02020603050405020304" pitchFamily="18" charset="0"/>
              </a:rPr>
              <a:t>2420090047 – Akshaya </a:t>
            </a:r>
            <a:r>
              <a:rPr lang="en-IN" sz="3200" dirty="0" err="1">
                <a:latin typeface="Times New Roman" panose="02020603050405020304" pitchFamily="18" charset="0"/>
                <a:cs typeface="Times New Roman" panose="02020603050405020304" pitchFamily="18" charset="0"/>
              </a:rPr>
              <a:t>Vangalapudi</a:t>
            </a:r>
            <a:r>
              <a:rPr lang="en-IN" sz="3200" dirty="0">
                <a:latin typeface="Times New Roman" panose="02020603050405020304" pitchFamily="18" charset="0"/>
                <a:cs typeface="Times New Roman" panose="02020603050405020304" pitchFamily="18" charset="0"/>
              </a:rPr>
              <a:t> </a:t>
            </a:r>
          </a:p>
          <a:p>
            <a:pPr lvl="0">
              <a:lnSpc>
                <a:spcPct val="120000"/>
              </a:lnSpc>
            </a:pPr>
            <a:r>
              <a:rPr lang="en-IN" sz="3200" dirty="0">
                <a:latin typeface="Times New Roman" panose="02020603050405020304" pitchFamily="18" charset="0"/>
                <a:cs typeface="Times New Roman" panose="02020603050405020304" pitchFamily="18" charset="0"/>
              </a:rPr>
              <a:t>2420030040 – </a:t>
            </a:r>
            <a:r>
              <a:rPr lang="en-IN" sz="3200" dirty="0" err="1">
                <a:latin typeface="Times New Roman" panose="02020603050405020304" pitchFamily="18" charset="0"/>
                <a:cs typeface="Times New Roman" panose="02020603050405020304" pitchFamily="18" charset="0"/>
              </a:rPr>
              <a:t>Mikkineni</a:t>
            </a:r>
            <a:r>
              <a:rPr lang="en-IN" sz="3200" dirty="0">
                <a:latin typeface="Times New Roman" panose="02020603050405020304" pitchFamily="18" charset="0"/>
                <a:cs typeface="Times New Roman" panose="02020603050405020304" pitchFamily="18" charset="0"/>
              </a:rPr>
              <a:t> Thanvitha </a:t>
            </a:r>
          </a:p>
          <a:p>
            <a:pPr lvl="0">
              <a:lnSpc>
                <a:spcPct val="120000"/>
              </a:lnSpc>
            </a:pPr>
            <a:r>
              <a:rPr lang="en-IN" sz="3200" dirty="0">
                <a:latin typeface="Times New Roman" panose="02020603050405020304" pitchFamily="18" charset="0"/>
                <a:cs typeface="Times New Roman" panose="02020603050405020304" pitchFamily="18" charset="0"/>
              </a:rPr>
              <a:t>2420030017 – Allam </a:t>
            </a:r>
            <a:r>
              <a:rPr lang="en-IN" sz="3200" dirty="0" err="1">
                <a:latin typeface="Times New Roman" panose="02020603050405020304" pitchFamily="18" charset="0"/>
                <a:cs typeface="Times New Roman" panose="02020603050405020304" pitchFamily="18" charset="0"/>
              </a:rPr>
              <a:t>Greshmica</a:t>
            </a:r>
            <a:endParaRPr lang="en-IN" sz="3200" dirty="0">
              <a:latin typeface="Times New Roman" panose="02020603050405020304" pitchFamily="18" charset="0"/>
              <a:cs typeface="Times New Roman" panose="02020603050405020304" pitchFamily="18" charset="0"/>
            </a:endParaRPr>
          </a:p>
          <a:p>
            <a:pPr lvl="0">
              <a:lnSpc>
                <a:spcPct val="120000"/>
              </a:lnSpc>
            </a:pPr>
            <a:endParaRPr lang="en-IN" sz="3200" b="1" dirty="0">
              <a:latin typeface="Times New Roman" panose="02020603050405020304" pitchFamily="18" charset="0"/>
              <a:cs typeface="Times New Roman" panose="02020603050405020304" pitchFamily="18" charset="0"/>
            </a:endParaRPr>
          </a:p>
          <a:p>
            <a:pPr lvl="0">
              <a:lnSpc>
                <a:spcPct val="120000"/>
              </a:lnSpc>
            </a:pPr>
            <a:r>
              <a:rPr lang="en-IN" sz="3200" b="1" dirty="0">
                <a:latin typeface="Times New Roman" panose="02020603050405020304" pitchFamily="18" charset="0"/>
                <a:cs typeface="Times New Roman" panose="02020603050405020304" pitchFamily="18" charset="0"/>
              </a:rPr>
              <a:t>Guide:</a:t>
            </a:r>
            <a:r>
              <a:rPr lang="en-IN" sz="3200" dirty="0">
                <a:latin typeface="Times New Roman" panose="02020603050405020304" pitchFamily="18" charset="0"/>
                <a:cs typeface="Times New Roman" panose="02020603050405020304" pitchFamily="18" charset="0"/>
              </a:rPr>
              <a:t> G. Lavanya</a:t>
            </a:r>
            <a:br>
              <a:rPr lang="en-IN" sz="3200"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Department of CSE</a:t>
            </a:r>
            <a:br>
              <a:rPr lang="en-IN" sz="3200"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A.Y. 2026–2027</a:t>
            </a:r>
            <a:endParaRPr lang="en-IN" sz="3200" dirty="0">
              <a:latin typeface="Times New Roman" panose="02020603050405020304" pitchFamily="18" charset="0"/>
              <a:cs typeface="Times New Roman" panose="02020603050405020304" pitchFamily="18" charset="0"/>
            </a:endParaRPr>
          </a:p>
          <a:p>
            <a:pPr algn="l"/>
            <a:endParaRPr lang="en-US" b="1" cap="all" dirty="0">
              <a:ln/>
              <a:solidFill>
                <a:srgbClr val="C00000"/>
              </a:solidFill>
              <a:ea typeface="BioRhyme ExtraBold"/>
              <a:cs typeface="Poppins" panose="00000500000000000000" pitchFamily="2" charset="0"/>
            </a:endParaRPr>
          </a:p>
          <a:p>
            <a:pPr algn="l"/>
            <a:endParaRPr lang="en-US" b="1" cap="all" dirty="0">
              <a:ln/>
              <a:solidFill>
                <a:srgbClr val="C00000"/>
              </a:solidFill>
              <a:ea typeface="BioRhyme ExtraBold"/>
              <a:cs typeface="Poppins" panose="00000500000000000000" pitchFamily="2" charset="0"/>
            </a:endParaRPr>
          </a:p>
          <a:p>
            <a:endParaRPr lang="en-IN" dirty="0"/>
          </a:p>
        </p:txBody>
      </p:sp>
    </p:spTree>
    <p:extLst>
      <p:ext uri="{BB962C8B-B14F-4D97-AF65-F5344CB8AC3E}">
        <p14:creationId xmlns:p14="http://schemas.microsoft.com/office/powerpoint/2010/main" val="3584482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Rounded Rectangle 17">
            <a:extLst>
              <a:ext uri="{FF2B5EF4-FFF2-40B4-BE49-F238E27FC236}">
                <a16:creationId xmlns:a16="http://schemas.microsoft.com/office/drawing/2014/main" id="{042E44EE-FDDE-6E91-88DD-E9CB42F51300}"/>
              </a:ext>
            </a:extLst>
          </p:cNvPr>
          <p:cNvSpPr/>
          <p:nvPr/>
        </p:nvSpPr>
        <p:spPr>
          <a:xfrm>
            <a:off x="2929032" y="473298"/>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Problem Statement</a:t>
            </a:r>
          </a:p>
        </p:txBody>
      </p:sp>
      <p:sp>
        <p:nvSpPr>
          <p:cNvPr id="11" name="TextBox 10">
            <a:extLst>
              <a:ext uri="{FF2B5EF4-FFF2-40B4-BE49-F238E27FC236}">
                <a16:creationId xmlns:a16="http://schemas.microsoft.com/office/drawing/2014/main" id="{8409BCE6-5464-40BA-CCD8-3513BD9E2256}"/>
              </a:ext>
            </a:extLst>
          </p:cNvPr>
          <p:cNvSpPr txBox="1"/>
          <p:nvPr/>
        </p:nvSpPr>
        <p:spPr>
          <a:xfrm>
            <a:off x="401548" y="2136430"/>
            <a:ext cx="11388903" cy="2308324"/>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During disasters, road conditions, hazard locations, and crowd density can change rapidly, making safe evacuation difficult.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Existing evacuation approaches may not simultaneously consider these changing factors while recommending routes.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Therefore, an intelligent and adaptive system is required to recommend safer evacuation routes based on current disaster conditions.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4031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32823A3D-2D05-3E2C-A45E-040FADD03327}"/>
              </a:ext>
            </a:extLst>
          </p:cNvPr>
          <p:cNvSpPr txBox="1">
            <a:spLocks/>
          </p:cNvSpPr>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pic>
        <p:nvPicPr>
          <p:cNvPr id="9" name="Picture 8">
            <a:extLst>
              <a:ext uri="{FF2B5EF4-FFF2-40B4-BE49-F238E27FC236}">
                <a16:creationId xmlns:a16="http://schemas.microsoft.com/office/drawing/2014/main" id="{C85D3F57-9DD8-0643-78E4-5591C60CE0CC}"/>
              </a:ext>
            </a:extLst>
          </p:cNvPr>
          <p:cNvPicPr/>
          <p:nvPr/>
        </p:nvPicPr>
        <p:blipFill>
          <a:blip r:embed="rId3"/>
          <a:stretch>
            <a:fillRect/>
          </a:stretch>
        </p:blipFill>
        <p:spPr>
          <a:xfrm>
            <a:off x="0" y="0"/>
            <a:ext cx="1912373" cy="1035233"/>
          </a:xfrm>
          <a:prstGeom prst="rect">
            <a:avLst/>
          </a:prstGeom>
          <a:noFill/>
          <a:ln w="9525">
            <a:noFill/>
          </a:ln>
        </p:spPr>
      </p:pic>
      <p:sp>
        <p:nvSpPr>
          <p:cNvPr id="4" name="Rounded Rectangle 17">
            <a:extLst>
              <a:ext uri="{FF2B5EF4-FFF2-40B4-BE49-F238E27FC236}">
                <a16:creationId xmlns:a16="http://schemas.microsoft.com/office/drawing/2014/main" id="{773E3FD2-C926-E7CE-5EE1-0583BBB29208}"/>
              </a:ext>
            </a:extLst>
          </p:cNvPr>
          <p:cNvSpPr/>
          <p:nvPr/>
        </p:nvSpPr>
        <p:spPr>
          <a:xfrm>
            <a:off x="2782374" y="40992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Objectives</a:t>
            </a:r>
          </a:p>
        </p:txBody>
      </p:sp>
      <p:sp>
        <p:nvSpPr>
          <p:cNvPr id="12" name="TextBox 11">
            <a:extLst>
              <a:ext uri="{FF2B5EF4-FFF2-40B4-BE49-F238E27FC236}">
                <a16:creationId xmlns:a16="http://schemas.microsoft.com/office/drawing/2014/main" id="{30308CF7-D6DF-7984-33EB-6587E6FC1E6E}"/>
              </a:ext>
            </a:extLst>
          </p:cNvPr>
          <p:cNvSpPr txBox="1"/>
          <p:nvPr/>
        </p:nvSpPr>
        <p:spPr>
          <a:xfrm>
            <a:off x="401548" y="2281138"/>
            <a:ext cx="11388903" cy="255454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1. Disaster Condition Analysis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disaster conditions and identify potential hazards.</a:t>
            </a:r>
          </a:p>
          <a:p>
            <a:r>
              <a:rPr lang="en-IN" sz="2000" b="1" dirty="0">
                <a:latin typeface="Times New Roman" panose="02020603050405020304" pitchFamily="18" charset="0"/>
                <a:cs typeface="Times New Roman" panose="02020603050405020304" pitchFamily="18" charset="0"/>
              </a:rPr>
              <a:t>2. Intelligent Evacuation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To recommend safer evacuation routes using AI-based analysis.</a:t>
            </a:r>
          </a:p>
          <a:p>
            <a:r>
              <a:rPr lang="en-IN" sz="2000" b="1" dirty="0">
                <a:latin typeface="Times New Roman" panose="02020603050405020304" pitchFamily="18" charset="0"/>
                <a:cs typeface="Times New Roman" panose="02020603050405020304" pitchFamily="18" charset="0"/>
              </a:rPr>
              <a:t>3. Adaptive Route Recommendation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To dynamically update routes based on blocked roads, crowd density and hazard locations.</a:t>
            </a:r>
          </a:p>
          <a:p>
            <a:r>
              <a:rPr lang="en-IN" sz="2000" b="1" dirty="0">
                <a:latin typeface="Times New Roman" panose="02020603050405020304" pitchFamily="18" charset="0"/>
                <a:cs typeface="Times New Roman" panose="02020603050405020304" pitchFamily="18" charset="0"/>
              </a:rPr>
              <a:t>4. Improved Decision Support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To assist authorities and individuals in making faster and safer evacuation decisions.</a:t>
            </a:r>
          </a:p>
        </p:txBody>
      </p:sp>
    </p:spTree>
    <p:extLst>
      <p:ext uri="{BB962C8B-B14F-4D97-AF65-F5344CB8AC3E}">
        <p14:creationId xmlns:p14="http://schemas.microsoft.com/office/powerpoint/2010/main" val="1704114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91B5C2-4C0B-E2C4-1889-F1184977CF64}"/>
              </a:ext>
            </a:extLst>
          </p:cNvPr>
          <p:cNvPicPr/>
          <p:nvPr/>
        </p:nvPicPr>
        <p:blipFill>
          <a:blip r:embed="rId2"/>
          <a:stretch>
            <a:fillRect/>
          </a:stretch>
        </p:blipFill>
        <p:spPr>
          <a:xfrm>
            <a:off x="0" y="0"/>
            <a:ext cx="1912373" cy="1035233"/>
          </a:xfrm>
          <a:prstGeom prst="rect">
            <a:avLst/>
          </a:prstGeom>
          <a:noFill/>
          <a:ln w="9525">
            <a:noFill/>
          </a:ln>
        </p:spPr>
      </p:pic>
      <p:sp>
        <p:nvSpPr>
          <p:cNvPr id="8" name="Text Placeholder 6">
            <a:extLst>
              <a:ext uri="{FF2B5EF4-FFF2-40B4-BE49-F238E27FC236}">
                <a16:creationId xmlns:a16="http://schemas.microsoft.com/office/drawing/2014/main" id="{32823A3D-2D05-3E2C-A45E-040FADD03327}"/>
              </a:ext>
            </a:extLst>
          </p:cNvPr>
          <p:cNvSpPr txBox="1">
            <a:spLocks/>
          </p:cNvSpPr>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sp>
        <p:nvSpPr>
          <p:cNvPr id="5" name="Rounded Rectangle 17">
            <a:extLst>
              <a:ext uri="{FF2B5EF4-FFF2-40B4-BE49-F238E27FC236}">
                <a16:creationId xmlns:a16="http://schemas.microsoft.com/office/drawing/2014/main" id="{524C8388-FBE8-586D-8161-64455497AFD3}"/>
              </a:ext>
            </a:extLst>
          </p:cNvPr>
          <p:cNvSpPr/>
          <p:nvPr/>
        </p:nvSpPr>
        <p:spPr>
          <a:xfrm>
            <a:off x="2969698" y="4308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Existing System</a:t>
            </a:r>
            <a:endParaRPr lang="en-US" sz="2400" b="1" dirty="0">
              <a:solidFill>
                <a:schemeClr val="bg1"/>
              </a:solidFill>
            </a:endParaRPr>
          </a:p>
        </p:txBody>
      </p:sp>
      <p:sp>
        <p:nvSpPr>
          <p:cNvPr id="9" name="TextBox 8">
            <a:extLst>
              <a:ext uri="{FF2B5EF4-FFF2-40B4-BE49-F238E27FC236}">
                <a16:creationId xmlns:a16="http://schemas.microsoft.com/office/drawing/2014/main" id="{9C9838F2-D200-DE07-B729-4480354C9FCD}"/>
              </a:ext>
            </a:extLst>
          </p:cNvPr>
          <p:cNvSpPr txBox="1"/>
          <p:nvPr/>
        </p:nvSpPr>
        <p:spPr>
          <a:xfrm>
            <a:off x="457199" y="1359595"/>
            <a:ext cx="11388903" cy="707886"/>
          </a:xfrm>
          <a:prstGeom prst="rect">
            <a:avLst/>
          </a:prstGeom>
          <a:noFill/>
        </p:spPr>
        <p:txBody>
          <a:bodyPr wrap="square">
            <a:spAutoFit/>
          </a:bodyPr>
          <a:lstStyle/>
          <a:p>
            <a:endParaRPr lang="en-US" sz="2000" dirty="0"/>
          </a:p>
          <a:p>
            <a:r>
              <a:rPr lang="en-US" sz="2000" dirty="0"/>
              <a:t>	</a:t>
            </a:r>
            <a:endParaRPr lang="en-IN" sz="2000" dirty="0"/>
          </a:p>
        </p:txBody>
      </p:sp>
      <p:sp>
        <p:nvSpPr>
          <p:cNvPr id="2" name="TextBox 1">
            <a:extLst>
              <a:ext uri="{FF2B5EF4-FFF2-40B4-BE49-F238E27FC236}">
                <a16:creationId xmlns:a16="http://schemas.microsoft.com/office/drawing/2014/main" id="{DB8893A4-0149-443C-7BF7-A2BB1FEC1B00}"/>
              </a:ext>
            </a:extLst>
          </p:cNvPr>
          <p:cNvSpPr txBox="1"/>
          <p:nvPr/>
        </p:nvSpPr>
        <p:spPr>
          <a:xfrm>
            <a:off x="844549" y="1783080"/>
            <a:ext cx="10890251" cy="397031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Recent research has developed intelligent and adaptive evacuation methods, but different studies focus on different aspects of the problem.</a:t>
            </a:r>
          </a:p>
          <a:p>
            <a:r>
              <a:rPr lang="en-IN" b="1" dirty="0">
                <a:latin typeface="Times New Roman" panose="02020603050405020304" pitchFamily="18" charset="0"/>
                <a:cs typeface="Times New Roman" panose="02020603050405020304" pitchFamily="18" charset="0"/>
              </a:rPr>
              <a:t>Research Paper:</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“Adaptive Emergency Evacuation Routing: A Graph-Based Approach”</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Authors: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Hojat</a:t>
            </a:r>
            <a:r>
              <a:rPr lang="en-IN" dirty="0">
                <a:latin typeface="Times New Roman" panose="02020603050405020304" pitchFamily="18" charset="0"/>
                <a:cs typeface="Times New Roman" panose="02020603050405020304" pitchFamily="18" charset="0"/>
              </a:rPr>
              <a:t> Behrooz, Mohammad </a:t>
            </a:r>
            <a:r>
              <a:rPr lang="en-IN" dirty="0" err="1">
                <a:latin typeface="Times New Roman" panose="02020603050405020304" pitchFamily="18" charset="0"/>
                <a:cs typeface="Times New Roman" panose="02020603050405020304" pitchFamily="18" charset="0"/>
              </a:rPr>
              <a:t>Ilbeigi</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Journal:</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International Journal of Transportation Science and Technology</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Year:</a:t>
            </a:r>
            <a:r>
              <a:rPr lang="en-IN" dirty="0">
                <a:latin typeface="Times New Roman" panose="02020603050405020304" pitchFamily="18" charset="0"/>
                <a:cs typeface="Times New Roman" panose="02020603050405020304" pitchFamily="18" charset="0"/>
              </a:rPr>
              <a:t> 2025</a:t>
            </a:r>
          </a:p>
          <a:p>
            <a:r>
              <a:rPr lang="en-IN" b="1" dirty="0">
                <a:latin typeface="Times New Roman" panose="02020603050405020304" pitchFamily="18" charset="0"/>
                <a:cs typeface="Times New Roman" panose="02020603050405020304" pitchFamily="18" charset="0"/>
              </a:rPr>
              <a:t>Approach Used:</a:t>
            </a:r>
          </a:p>
          <a:p>
            <a:pPr lvl="0"/>
            <a:r>
              <a:rPr lang="en-IN" dirty="0">
                <a:latin typeface="Times New Roman" panose="02020603050405020304" pitchFamily="18" charset="0"/>
                <a:cs typeface="Times New Roman" panose="02020603050405020304" pitchFamily="18" charset="0"/>
              </a:rPr>
              <a:t>Uses a dynamic graph-based algorithm for emergency evacuation. </a:t>
            </a:r>
          </a:p>
          <a:p>
            <a:pPr lvl="0"/>
            <a:r>
              <a:rPr lang="en-IN" dirty="0">
                <a:latin typeface="Times New Roman" panose="02020603050405020304" pitchFamily="18" charset="0"/>
                <a:cs typeface="Times New Roman" panose="02020603050405020304" pitchFamily="18" charset="0"/>
              </a:rPr>
              <a:t>Dynamically adjusts road-segment directions and traffic flow. </a:t>
            </a:r>
          </a:p>
          <a:p>
            <a:pPr lvl="0"/>
            <a:r>
              <a:rPr lang="en-IN" dirty="0">
                <a:latin typeface="Times New Roman" panose="02020603050405020304" pitchFamily="18" charset="0"/>
                <a:cs typeface="Times New Roman" panose="02020603050405020304" pitchFamily="18" charset="0"/>
              </a:rPr>
              <a:t>Routes evacuees from dangerous zones to safe zones. </a:t>
            </a:r>
          </a:p>
          <a:p>
            <a:pPr lvl="0"/>
            <a:r>
              <a:rPr lang="en-IN" dirty="0">
                <a:latin typeface="Times New Roman" panose="02020603050405020304" pitchFamily="18" charset="0"/>
                <a:cs typeface="Times New Roman" panose="02020603050405020304" pitchFamily="18" charset="0"/>
              </a:rPr>
              <a:t>Evaluated using a real-world road network in Hoboken, New Jersey. </a:t>
            </a:r>
          </a:p>
          <a:p>
            <a:r>
              <a:rPr lang="en-IN" b="1" dirty="0">
                <a:latin typeface="Times New Roman" panose="02020603050405020304" pitchFamily="18" charset="0"/>
                <a:cs typeface="Times New Roman" panose="02020603050405020304" pitchFamily="18" charset="0"/>
              </a:rPr>
              <a:t>Key Limitation:</a:t>
            </a:r>
          </a:p>
          <a:p>
            <a:r>
              <a:rPr lang="en-IN" dirty="0">
                <a:latin typeface="Times New Roman" panose="02020603050405020304" pitchFamily="18" charset="0"/>
                <a:cs typeface="Times New Roman" panose="02020603050405020304" pitchFamily="18" charset="0"/>
              </a:rPr>
              <a:t>The study primarily focuses on road-network configuration and traffic-flow optimization for vehicle evacuation.</a:t>
            </a:r>
          </a:p>
        </p:txBody>
      </p:sp>
    </p:spTree>
    <p:extLst>
      <p:ext uri="{BB962C8B-B14F-4D97-AF65-F5344CB8AC3E}">
        <p14:creationId xmlns:p14="http://schemas.microsoft.com/office/powerpoint/2010/main" val="3711155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32823A3D-2D05-3E2C-A45E-040FADD03327}"/>
              </a:ext>
            </a:extLst>
          </p:cNvPr>
          <p:cNvSpPr txBox="1">
            <a:spLocks/>
          </p:cNvSpPr>
          <p:nvPr/>
        </p:nvSpPr>
        <p:spPr>
          <a:xfrm>
            <a:off x="268710" y="513963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dirty="0"/>
          </a:p>
        </p:txBody>
      </p:sp>
      <p:pic>
        <p:nvPicPr>
          <p:cNvPr id="3" name="Picture 2">
            <a:extLst>
              <a:ext uri="{FF2B5EF4-FFF2-40B4-BE49-F238E27FC236}">
                <a16:creationId xmlns:a16="http://schemas.microsoft.com/office/drawing/2014/main" id="{C0F44D8B-63D6-5106-35C9-0484FD7D3A3B}"/>
              </a:ext>
            </a:extLst>
          </p:cNvPr>
          <p:cNvPicPr/>
          <p:nvPr/>
        </p:nvPicPr>
        <p:blipFill>
          <a:blip r:embed="rId2"/>
          <a:stretch>
            <a:fillRect/>
          </a:stretch>
        </p:blipFill>
        <p:spPr>
          <a:xfrm>
            <a:off x="0" y="0"/>
            <a:ext cx="1912373" cy="1035233"/>
          </a:xfrm>
          <a:prstGeom prst="rect">
            <a:avLst/>
          </a:prstGeom>
          <a:noFill/>
          <a:ln w="9525">
            <a:noFill/>
          </a:ln>
        </p:spPr>
      </p:pic>
      <p:sp>
        <p:nvSpPr>
          <p:cNvPr id="4" name="Rounded Rectangle 17">
            <a:extLst>
              <a:ext uri="{FF2B5EF4-FFF2-40B4-BE49-F238E27FC236}">
                <a16:creationId xmlns:a16="http://schemas.microsoft.com/office/drawing/2014/main" id="{9EF10894-373F-FF00-44A1-44EC82918A22}"/>
              </a:ext>
            </a:extLst>
          </p:cNvPr>
          <p:cNvSpPr/>
          <p:nvPr/>
        </p:nvSpPr>
        <p:spPr>
          <a:xfrm>
            <a:off x="2896663" y="324091"/>
            <a:ext cx="6639951" cy="55017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IN" sz="2400" b="1" dirty="0"/>
              <a:t>Research Gap / Limitations</a:t>
            </a:r>
          </a:p>
        </p:txBody>
      </p:sp>
      <p:sp>
        <p:nvSpPr>
          <p:cNvPr id="7" name="TextBox 6">
            <a:extLst>
              <a:ext uri="{FF2B5EF4-FFF2-40B4-BE49-F238E27FC236}">
                <a16:creationId xmlns:a16="http://schemas.microsoft.com/office/drawing/2014/main" id="{E03BC5D8-EC04-F89E-33F0-54F5FFF6C67B}"/>
              </a:ext>
            </a:extLst>
          </p:cNvPr>
          <p:cNvSpPr txBox="1"/>
          <p:nvPr/>
        </p:nvSpPr>
        <p:spPr>
          <a:xfrm>
            <a:off x="189532" y="1097161"/>
            <a:ext cx="11667279" cy="92333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Research Gap</a:t>
            </a:r>
          </a:p>
          <a:p>
            <a:r>
              <a:rPr lang="en-IN" dirty="0">
                <a:latin typeface="Times New Roman" panose="02020603050405020304" pitchFamily="18" charset="0"/>
                <a:cs typeface="Times New Roman" panose="02020603050405020304" pitchFamily="18" charset="0"/>
              </a:rPr>
              <a:t>Existing research demonstrates that evacuation routes can be dynamically optimized, but there is scope for integrating multiple real-time factors into a single evacuation recommendation system.</a:t>
            </a:r>
          </a:p>
        </p:txBody>
      </p:sp>
      <p:graphicFrame>
        <p:nvGraphicFramePr>
          <p:cNvPr id="2" name="Table 1">
            <a:extLst>
              <a:ext uri="{FF2B5EF4-FFF2-40B4-BE49-F238E27FC236}">
                <a16:creationId xmlns:a16="http://schemas.microsoft.com/office/drawing/2014/main" id="{130BC801-9AB5-B755-6CA8-B1836660B6B2}"/>
              </a:ext>
            </a:extLst>
          </p:cNvPr>
          <p:cNvGraphicFramePr>
            <a:graphicFrameLocks noGrp="1"/>
          </p:cNvGraphicFramePr>
          <p:nvPr>
            <p:extLst>
              <p:ext uri="{D42A27DB-BD31-4B8C-83A1-F6EECF244321}">
                <p14:modId xmlns:p14="http://schemas.microsoft.com/office/powerpoint/2010/main" val="1823651674"/>
              </p:ext>
            </p:extLst>
          </p:nvPr>
        </p:nvGraphicFramePr>
        <p:xfrm>
          <a:off x="268710" y="2113535"/>
          <a:ext cx="9415692" cy="2377440"/>
        </p:xfrm>
        <a:graphic>
          <a:graphicData uri="http://schemas.openxmlformats.org/drawingml/2006/table">
            <a:tbl>
              <a:tblPr>
                <a:tableStyleId>{5C22544A-7EE6-4342-B048-85BDC9FD1C3A}</a:tableStyleId>
              </a:tblPr>
              <a:tblGrid>
                <a:gridCol w="4648863">
                  <a:extLst>
                    <a:ext uri="{9D8B030D-6E8A-4147-A177-3AD203B41FA5}">
                      <a16:colId xmlns:a16="http://schemas.microsoft.com/office/drawing/2014/main" val="3021614436"/>
                    </a:ext>
                  </a:extLst>
                </a:gridCol>
                <a:gridCol w="4766829">
                  <a:extLst>
                    <a:ext uri="{9D8B030D-6E8A-4147-A177-3AD203B41FA5}">
                      <a16:colId xmlns:a16="http://schemas.microsoft.com/office/drawing/2014/main" val="1952520601"/>
                    </a:ext>
                  </a:extLst>
                </a:gridCol>
              </a:tblGrid>
              <a:tr h="276695">
                <a:tc>
                  <a:txBody>
                    <a:bodyPr/>
                    <a:lstStyle/>
                    <a:p>
                      <a:pPr>
                        <a:buNone/>
                      </a:pPr>
                      <a:r>
                        <a:rPr lang="en-IN"/>
                        <a:t>Existing Research</a:t>
                      </a:r>
                    </a:p>
                  </a:txBody>
                  <a:tcPr anchor="ctr"/>
                </a:tc>
                <a:tc>
                  <a:txBody>
                    <a:bodyPr/>
                    <a:lstStyle/>
                    <a:p>
                      <a:pPr>
                        <a:buNone/>
                      </a:pPr>
                      <a:r>
                        <a:rPr lang="en-IN" dirty="0"/>
                        <a:t>Gap</a:t>
                      </a:r>
                    </a:p>
                  </a:txBody>
                  <a:tcPr anchor="ctr"/>
                </a:tc>
                <a:extLst>
                  <a:ext uri="{0D108BD9-81ED-4DB2-BD59-A6C34878D82A}">
                    <a16:rowId xmlns:a16="http://schemas.microsoft.com/office/drawing/2014/main" val="2666717852"/>
                  </a:ext>
                </a:extLst>
              </a:tr>
              <a:tr h="484216">
                <a:tc>
                  <a:txBody>
                    <a:bodyPr/>
                    <a:lstStyle/>
                    <a:p>
                      <a:pPr>
                        <a:buNone/>
                      </a:pPr>
                      <a:r>
                        <a:rPr lang="en-IN" dirty="0"/>
                        <a:t>Dynamic road-network adaptation</a:t>
                      </a:r>
                    </a:p>
                  </a:txBody>
                  <a:tcPr anchor="ctr"/>
                </a:tc>
                <a:tc>
                  <a:txBody>
                    <a:bodyPr/>
                    <a:lstStyle/>
                    <a:p>
                      <a:pPr>
                        <a:buNone/>
                      </a:pPr>
                      <a:r>
                        <a:rPr lang="en-IN"/>
                        <a:t>Does not form our proposed unified user-facing system</a:t>
                      </a:r>
                    </a:p>
                  </a:txBody>
                  <a:tcPr anchor="ctr"/>
                </a:tc>
                <a:extLst>
                  <a:ext uri="{0D108BD9-81ED-4DB2-BD59-A6C34878D82A}">
                    <a16:rowId xmlns:a16="http://schemas.microsoft.com/office/drawing/2014/main" val="1434483135"/>
                  </a:ext>
                </a:extLst>
              </a:tr>
              <a:tr h="276695">
                <a:tc>
                  <a:txBody>
                    <a:bodyPr/>
                    <a:lstStyle/>
                    <a:p>
                      <a:pPr>
                        <a:buNone/>
                      </a:pPr>
                      <a:r>
                        <a:rPr lang="en-IN"/>
                        <a:t>Traffic-flow optimization</a:t>
                      </a:r>
                    </a:p>
                  </a:txBody>
                  <a:tcPr anchor="ctr"/>
                </a:tc>
                <a:tc>
                  <a:txBody>
                    <a:bodyPr/>
                    <a:lstStyle/>
                    <a:p>
                      <a:pPr>
                        <a:buNone/>
                      </a:pPr>
                      <a:r>
                        <a:rPr lang="en-IN"/>
                        <a:t>Limited scope for individual evacuation guidance</a:t>
                      </a:r>
                    </a:p>
                  </a:txBody>
                  <a:tcPr anchor="ctr"/>
                </a:tc>
                <a:extLst>
                  <a:ext uri="{0D108BD9-81ED-4DB2-BD59-A6C34878D82A}">
                    <a16:rowId xmlns:a16="http://schemas.microsoft.com/office/drawing/2014/main" val="3530009136"/>
                  </a:ext>
                </a:extLst>
              </a:tr>
              <a:tr h="276695">
                <a:tc>
                  <a:txBody>
                    <a:bodyPr/>
                    <a:lstStyle/>
                    <a:p>
                      <a:pPr>
                        <a:buNone/>
                      </a:pPr>
                      <a:r>
                        <a:rPr lang="en-IN"/>
                        <a:t>Dangerous → safe zone routing</a:t>
                      </a:r>
                    </a:p>
                  </a:txBody>
                  <a:tcPr anchor="ctr"/>
                </a:tc>
                <a:tc>
                  <a:txBody>
                    <a:bodyPr/>
                    <a:lstStyle/>
                    <a:p>
                      <a:pPr>
                        <a:buNone/>
                      </a:pPr>
                      <a:r>
                        <a:rPr lang="en-IN"/>
                        <a:t>Additional factors can be integrated</a:t>
                      </a:r>
                    </a:p>
                  </a:txBody>
                  <a:tcPr anchor="ctr"/>
                </a:tc>
                <a:extLst>
                  <a:ext uri="{0D108BD9-81ED-4DB2-BD59-A6C34878D82A}">
                    <a16:rowId xmlns:a16="http://schemas.microsoft.com/office/drawing/2014/main" val="3394638930"/>
                  </a:ext>
                </a:extLst>
              </a:tr>
              <a:tr h="484216">
                <a:tc>
                  <a:txBody>
                    <a:bodyPr/>
                    <a:lstStyle/>
                    <a:p>
                      <a:pPr>
                        <a:buNone/>
                      </a:pPr>
                      <a:r>
                        <a:rPr lang="en-IN" dirty="0"/>
                        <a:t>Dynamic routing</a:t>
                      </a:r>
                    </a:p>
                  </a:txBody>
                  <a:tcPr anchor="ctr"/>
                </a:tc>
                <a:tc>
                  <a:txBody>
                    <a:bodyPr/>
                    <a:lstStyle/>
                    <a:p>
                      <a:pPr>
                        <a:buNone/>
                      </a:pPr>
                      <a:r>
                        <a:rPr lang="en-IN" dirty="0"/>
                        <a:t>Scope to combine hazard, blocked-route and crowd information</a:t>
                      </a:r>
                    </a:p>
                  </a:txBody>
                  <a:tcPr anchor="ctr"/>
                </a:tc>
                <a:extLst>
                  <a:ext uri="{0D108BD9-81ED-4DB2-BD59-A6C34878D82A}">
                    <a16:rowId xmlns:a16="http://schemas.microsoft.com/office/drawing/2014/main" val="1209399112"/>
                  </a:ext>
                </a:extLst>
              </a:tr>
            </a:tbl>
          </a:graphicData>
        </a:graphic>
      </p:graphicFrame>
      <p:sp>
        <p:nvSpPr>
          <p:cNvPr id="10" name="TextBox 9">
            <a:extLst>
              <a:ext uri="{FF2B5EF4-FFF2-40B4-BE49-F238E27FC236}">
                <a16:creationId xmlns:a16="http://schemas.microsoft.com/office/drawing/2014/main" id="{F7245E3E-2325-9C97-86B7-41ECB4BF4A02}"/>
              </a:ext>
            </a:extLst>
          </p:cNvPr>
          <p:cNvSpPr txBox="1"/>
          <p:nvPr/>
        </p:nvSpPr>
        <p:spPr>
          <a:xfrm>
            <a:off x="189532" y="4554395"/>
            <a:ext cx="11021336" cy="2308324"/>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How Our Project Addresses the Gap</a:t>
            </a:r>
          </a:p>
          <a:p>
            <a:r>
              <a:rPr lang="en-IN" dirty="0">
                <a:latin typeface="Times New Roman" panose="02020603050405020304" pitchFamily="18" charset="0"/>
                <a:cs typeface="Times New Roman" panose="02020603050405020304" pitchFamily="18" charset="0"/>
              </a:rPr>
              <a:t>Our system integrates:</a:t>
            </a:r>
          </a:p>
          <a:p>
            <a:r>
              <a:rPr lang="en-IN" dirty="0">
                <a:latin typeface="Times New Roman" panose="02020603050405020304" pitchFamily="18" charset="0"/>
                <a:cs typeface="Times New Roman" panose="02020603050405020304" pitchFamily="18" charset="0"/>
              </a:rPr>
              <a:t>Hazard Locations + Blocked Routes + Crowd Density + Current Location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AI-Based Adaptive Route Recommendation</a:t>
            </a:r>
          </a:p>
          <a:p>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Safer Evacuation Guidance</a:t>
            </a:r>
          </a:p>
          <a:p>
            <a:endParaRPr lang="en-IN" dirty="0"/>
          </a:p>
        </p:txBody>
      </p:sp>
    </p:spTree>
    <p:extLst>
      <p:ext uri="{BB962C8B-B14F-4D97-AF65-F5344CB8AC3E}">
        <p14:creationId xmlns:p14="http://schemas.microsoft.com/office/powerpoint/2010/main" val="2689925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BA39312-8A41-C7D3-47A5-50A867BE42DD}"/>
              </a:ext>
            </a:extLst>
          </p:cNvPr>
          <p:cNvSpPr>
            <a:spLocks noGrp="1"/>
          </p:cNvSpPr>
          <p:nvPr>
            <p:ph type="body" idx="1"/>
          </p:nvPr>
        </p:nvSpPr>
        <p:spPr>
          <a:xfrm>
            <a:off x="664580" y="1657249"/>
            <a:ext cx="10515600" cy="4616229"/>
          </a:xfrm>
        </p:spPr>
        <p:txBody>
          <a:bodyPr>
            <a:normAutofit fontScale="85000" lnSpcReduction="20000"/>
          </a:bodyPr>
          <a:lstStyle/>
          <a:p>
            <a:r>
              <a:rPr lang="en-IN" dirty="0">
                <a:solidFill>
                  <a:schemeClr val="tx1"/>
                </a:solidFill>
                <a:latin typeface="Times New Roman" panose="02020603050405020304" pitchFamily="18" charset="0"/>
                <a:cs typeface="Times New Roman" panose="02020603050405020304" pitchFamily="18" charset="0"/>
              </a:rPr>
              <a:t>Our system proposes an AI-powered adaptive disaster management and evacuation recommendation platform that integrates multiple disaster-related factors to recommend safer evacuation routes.</a:t>
            </a:r>
          </a:p>
          <a:p>
            <a:r>
              <a:rPr lang="en-IN" dirty="0">
                <a:solidFill>
                  <a:schemeClr val="tx1"/>
                </a:solidFill>
                <a:latin typeface="Times New Roman" panose="02020603050405020304" pitchFamily="18" charset="0"/>
                <a:cs typeface="Times New Roman" panose="02020603050405020304" pitchFamily="18" charset="0"/>
              </a:rPr>
              <a:t>It considers:</a:t>
            </a:r>
          </a:p>
          <a:p>
            <a:r>
              <a:rPr lang="en-IN" b="1" dirty="0">
                <a:solidFill>
                  <a:schemeClr val="tx1"/>
                </a:solidFill>
                <a:latin typeface="Times New Roman" panose="02020603050405020304" pitchFamily="18" charset="0"/>
                <a:cs typeface="Times New Roman" panose="02020603050405020304" pitchFamily="18" charset="0"/>
              </a:rPr>
              <a:t>Hazard Locations</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Where dangerous areas are located.</a:t>
            </a:r>
          </a:p>
          <a:p>
            <a:r>
              <a:rPr lang="en-IN" b="1" dirty="0">
                <a:solidFill>
                  <a:schemeClr val="tx1"/>
                </a:solidFill>
                <a:latin typeface="Times New Roman" panose="02020603050405020304" pitchFamily="18" charset="0"/>
                <a:cs typeface="Times New Roman" panose="02020603050405020304" pitchFamily="18" charset="0"/>
              </a:rPr>
              <a:t>Blocked Routes</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Roads that cannot be used for evacuation.</a:t>
            </a:r>
          </a:p>
          <a:p>
            <a:r>
              <a:rPr lang="en-IN" b="1" dirty="0">
                <a:solidFill>
                  <a:schemeClr val="tx1"/>
                </a:solidFill>
                <a:latin typeface="Times New Roman" panose="02020603050405020304" pitchFamily="18" charset="0"/>
                <a:cs typeface="Times New Roman" panose="02020603050405020304" pitchFamily="18" charset="0"/>
              </a:rPr>
              <a:t>Crowd Density</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Areas with higher evacuation congestion.</a:t>
            </a:r>
          </a:p>
          <a:p>
            <a:r>
              <a:rPr lang="en-IN" b="1" dirty="0">
                <a:solidFill>
                  <a:schemeClr val="tx1"/>
                </a:solidFill>
                <a:latin typeface="Times New Roman" panose="02020603050405020304" pitchFamily="18" charset="0"/>
                <a:cs typeface="Times New Roman" panose="02020603050405020304" pitchFamily="18" charset="0"/>
              </a:rPr>
              <a:t>Current Location</a:t>
            </a:r>
            <a:br>
              <a:rPr lang="en-IN" dirty="0">
                <a:solidFill>
                  <a:schemeClr val="tx1"/>
                </a:solidFill>
                <a:latin typeface="Times New Roman" panose="02020603050405020304" pitchFamily="18" charset="0"/>
                <a:cs typeface="Times New Roman" panose="02020603050405020304" pitchFamily="18" charset="0"/>
              </a:rPr>
            </a:br>
            <a:r>
              <a:rPr lang="en-IN" dirty="0" err="1">
                <a:solidFill>
                  <a:schemeClr val="tx1"/>
                </a:solidFill>
                <a:latin typeface="Times New Roman" panose="02020603050405020304" pitchFamily="18" charset="0"/>
                <a:cs typeface="Times New Roman" panose="02020603050405020304" pitchFamily="18" charset="0"/>
              </a:rPr>
              <a:t>Location</a:t>
            </a:r>
            <a:r>
              <a:rPr lang="en-IN" dirty="0">
                <a:solidFill>
                  <a:schemeClr val="tx1"/>
                </a:solidFill>
                <a:latin typeface="Times New Roman" panose="02020603050405020304" pitchFamily="18" charset="0"/>
                <a:cs typeface="Times New Roman" panose="02020603050405020304" pitchFamily="18" charset="0"/>
              </a:rPr>
              <a:t> from which the user needs evacuation guidance.</a:t>
            </a:r>
          </a:p>
          <a:p>
            <a:r>
              <a:rPr lang="en-IN" b="1" dirty="0">
                <a:solidFill>
                  <a:schemeClr val="tx1"/>
                </a:solidFill>
                <a:latin typeface="Times New Roman" panose="02020603050405020304" pitchFamily="18" charset="0"/>
                <a:cs typeface="Times New Roman" panose="02020603050405020304" pitchFamily="18" charset="0"/>
              </a:rPr>
              <a:t>Safe Zones</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Available safer destinations.</a:t>
            </a:r>
          </a:p>
          <a:p>
            <a:r>
              <a:rPr lang="en-IN" b="1" dirty="0">
                <a:solidFill>
                  <a:schemeClr val="tx1"/>
                </a:solidFill>
                <a:latin typeface="Times New Roman" panose="02020603050405020304" pitchFamily="18" charset="0"/>
                <a:cs typeface="Times New Roman" panose="02020603050405020304" pitchFamily="18" charset="0"/>
              </a:rPr>
              <a:t>Output:</a:t>
            </a:r>
          </a:p>
          <a:p>
            <a:r>
              <a:rPr lang="en-IN" dirty="0">
                <a:solidFill>
                  <a:schemeClr val="tx1"/>
                </a:solidFill>
                <a:latin typeface="Times New Roman" panose="02020603050405020304" pitchFamily="18" charset="0"/>
                <a:cs typeface="Times New Roman" panose="02020603050405020304" pitchFamily="18" charset="0"/>
              </a:rPr>
              <a:t>Adaptive &amp; Safer Evacuation Route Recommendation</a:t>
            </a:r>
          </a:p>
          <a:p>
            <a:pPr>
              <a:lnSpc>
                <a:spcPct val="150000"/>
              </a:lnSpc>
            </a:pPr>
            <a:endParaRPr lang="en-IN" dirty="0">
              <a:solidFill>
                <a:schemeClr val="tx1"/>
              </a:solidFill>
            </a:endParaRPr>
          </a:p>
        </p:txBody>
      </p:sp>
      <p:sp>
        <p:nvSpPr>
          <p:cNvPr id="6" name="Rounded Rectangle 17">
            <a:extLst>
              <a:ext uri="{FF2B5EF4-FFF2-40B4-BE49-F238E27FC236}">
                <a16:creationId xmlns:a16="http://schemas.microsoft.com/office/drawing/2014/main" id="{6473780F-FDD5-15C6-EB41-2195676E5332}"/>
              </a:ext>
            </a:extLst>
          </p:cNvPr>
          <p:cNvSpPr/>
          <p:nvPr/>
        </p:nvSpPr>
        <p:spPr>
          <a:xfrm>
            <a:off x="3009952" y="46903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Proposed System</a:t>
            </a:r>
            <a:endParaRPr lang="en-US" sz="2400" b="1" dirty="0">
              <a:solidFill>
                <a:schemeClr val="bg1"/>
              </a:solidFill>
            </a:endParaRPr>
          </a:p>
        </p:txBody>
      </p:sp>
    </p:spTree>
    <p:extLst>
      <p:ext uri="{BB962C8B-B14F-4D97-AF65-F5344CB8AC3E}">
        <p14:creationId xmlns:p14="http://schemas.microsoft.com/office/powerpoint/2010/main" val="3295904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29365DB9-FA38-7CFE-AFE7-71BB60CD2387}"/>
              </a:ext>
            </a:extLst>
          </p:cNvPr>
          <p:cNvSpPr/>
          <p:nvPr/>
        </p:nvSpPr>
        <p:spPr>
          <a:xfrm>
            <a:off x="3026136" y="444758"/>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Existing vs Proposed</a:t>
            </a:r>
            <a:endParaRPr lang="en-US" sz="2400" b="1" dirty="0">
              <a:solidFill>
                <a:schemeClr val="bg1"/>
              </a:solidFill>
            </a:endParaRPr>
          </a:p>
        </p:txBody>
      </p:sp>
      <p:graphicFrame>
        <p:nvGraphicFramePr>
          <p:cNvPr id="2" name="Table 1">
            <a:extLst>
              <a:ext uri="{FF2B5EF4-FFF2-40B4-BE49-F238E27FC236}">
                <a16:creationId xmlns:a16="http://schemas.microsoft.com/office/drawing/2014/main" id="{BE3D6F2F-D97A-FDC4-A0DD-10D809A09F13}"/>
              </a:ext>
            </a:extLst>
          </p:cNvPr>
          <p:cNvGraphicFramePr>
            <a:graphicFrameLocks noGrp="1"/>
          </p:cNvGraphicFramePr>
          <p:nvPr>
            <p:extLst>
              <p:ext uri="{D42A27DB-BD31-4B8C-83A1-F6EECF244321}">
                <p14:modId xmlns:p14="http://schemas.microsoft.com/office/powerpoint/2010/main" val="3883368099"/>
              </p:ext>
            </p:extLst>
          </p:nvPr>
        </p:nvGraphicFramePr>
        <p:xfrm>
          <a:off x="1940560" y="1499616"/>
          <a:ext cx="8666480" cy="3995250"/>
        </p:xfrm>
        <a:graphic>
          <a:graphicData uri="http://schemas.openxmlformats.org/drawingml/2006/table">
            <a:tbl>
              <a:tblPr firstRow="1" bandRow="1">
                <a:tableStyleId>{5C22544A-7EE6-4342-B048-85BDC9FD1C3A}</a:tableStyleId>
              </a:tblPr>
              <a:tblGrid>
                <a:gridCol w="4333240">
                  <a:extLst>
                    <a:ext uri="{9D8B030D-6E8A-4147-A177-3AD203B41FA5}">
                      <a16:colId xmlns:a16="http://schemas.microsoft.com/office/drawing/2014/main" val="3592614670"/>
                    </a:ext>
                  </a:extLst>
                </a:gridCol>
                <a:gridCol w="4333240">
                  <a:extLst>
                    <a:ext uri="{9D8B030D-6E8A-4147-A177-3AD203B41FA5}">
                      <a16:colId xmlns:a16="http://schemas.microsoft.com/office/drawing/2014/main" val="3732686445"/>
                    </a:ext>
                  </a:extLst>
                </a:gridCol>
              </a:tblGrid>
              <a:tr h="435303">
                <a:tc>
                  <a:txBody>
                    <a:bodyPr/>
                    <a:lstStyle/>
                    <a:p>
                      <a:pPr>
                        <a:buNone/>
                      </a:pPr>
                      <a:r>
                        <a:rPr lang="en-IN" dirty="0"/>
                        <a:t>Existing Research / Systems</a:t>
                      </a:r>
                    </a:p>
                  </a:txBody>
                  <a:tcPr anchor="ctr"/>
                </a:tc>
                <a:tc>
                  <a:txBody>
                    <a:bodyPr/>
                    <a:lstStyle/>
                    <a:p>
                      <a:pPr>
                        <a:buNone/>
                      </a:pPr>
                      <a:r>
                        <a:rPr lang="en-IN"/>
                        <a:t>Proposed System</a:t>
                      </a:r>
                    </a:p>
                  </a:txBody>
                  <a:tcPr anchor="ctr"/>
                </a:tc>
                <a:extLst>
                  <a:ext uri="{0D108BD9-81ED-4DB2-BD59-A6C34878D82A}">
                    <a16:rowId xmlns:a16="http://schemas.microsoft.com/office/drawing/2014/main" val="3603993682"/>
                  </a:ext>
                </a:extLst>
              </a:tr>
              <a:tr h="751346">
                <a:tc>
                  <a:txBody>
                    <a:bodyPr/>
                    <a:lstStyle/>
                    <a:p>
                      <a:pPr>
                        <a:buNone/>
                      </a:pPr>
                      <a:r>
                        <a:rPr lang="en-IN"/>
                        <a:t>Focus may be on a specific evacuation factor</a:t>
                      </a:r>
                    </a:p>
                  </a:txBody>
                  <a:tcPr anchor="ctr"/>
                </a:tc>
                <a:tc>
                  <a:txBody>
                    <a:bodyPr/>
                    <a:lstStyle/>
                    <a:p>
                      <a:pPr>
                        <a:buNone/>
                      </a:pPr>
                      <a:r>
                        <a:rPr lang="en-IN"/>
                        <a:t>Combines multiple factors</a:t>
                      </a:r>
                    </a:p>
                  </a:txBody>
                  <a:tcPr anchor="ctr"/>
                </a:tc>
                <a:extLst>
                  <a:ext uri="{0D108BD9-81ED-4DB2-BD59-A6C34878D82A}">
                    <a16:rowId xmlns:a16="http://schemas.microsoft.com/office/drawing/2014/main" val="4088770312"/>
                  </a:ext>
                </a:extLst>
              </a:tr>
              <a:tr h="435303">
                <a:tc>
                  <a:txBody>
                    <a:bodyPr/>
                    <a:lstStyle/>
                    <a:p>
                      <a:pPr>
                        <a:buNone/>
                      </a:pPr>
                      <a:r>
                        <a:rPr lang="en-IN" dirty="0"/>
                        <a:t>Dynamic road-network optimization</a:t>
                      </a:r>
                    </a:p>
                  </a:txBody>
                  <a:tcPr anchor="ctr"/>
                </a:tc>
                <a:tc>
                  <a:txBody>
                    <a:bodyPr/>
                    <a:lstStyle/>
                    <a:p>
                      <a:pPr>
                        <a:buNone/>
                      </a:pPr>
                      <a:r>
                        <a:rPr lang="en-IN"/>
                        <a:t>Adaptive route recommendation</a:t>
                      </a:r>
                    </a:p>
                  </a:txBody>
                  <a:tcPr anchor="ctr"/>
                </a:tc>
                <a:extLst>
                  <a:ext uri="{0D108BD9-81ED-4DB2-BD59-A6C34878D82A}">
                    <a16:rowId xmlns:a16="http://schemas.microsoft.com/office/drawing/2014/main" val="3743643914"/>
                  </a:ext>
                </a:extLst>
              </a:tr>
              <a:tr h="435303">
                <a:tc>
                  <a:txBody>
                    <a:bodyPr/>
                    <a:lstStyle/>
                    <a:p>
                      <a:pPr>
                        <a:buNone/>
                      </a:pPr>
                      <a:r>
                        <a:rPr lang="en-IN"/>
                        <a:t>Traffic-flow focused approaches</a:t>
                      </a:r>
                    </a:p>
                  </a:txBody>
                  <a:tcPr anchor="ctr"/>
                </a:tc>
                <a:tc>
                  <a:txBody>
                    <a:bodyPr/>
                    <a:lstStyle/>
                    <a:p>
                      <a:pPr>
                        <a:buNone/>
                      </a:pPr>
                      <a:r>
                        <a:rPr lang="en-IN"/>
                        <a:t>Hazard + road + crowd considerations</a:t>
                      </a:r>
                    </a:p>
                  </a:txBody>
                  <a:tcPr anchor="ctr"/>
                </a:tc>
                <a:extLst>
                  <a:ext uri="{0D108BD9-81ED-4DB2-BD59-A6C34878D82A}">
                    <a16:rowId xmlns:a16="http://schemas.microsoft.com/office/drawing/2014/main" val="1720625282"/>
                  </a:ext>
                </a:extLst>
              </a:tr>
              <a:tr h="751346">
                <a:tc>
                  <a:txBody>
                    <a:bodyPr/>
                    <a:lstStyle/>
                    <a:p>
                      <a:pPr>
                        <a:buNone/>
                      </a:pPr>
                      <a:r>
                        <a:rPr lang="en-IN" dirty="0"/>
                        <a:t>Research-oriented/simulation environments</a:t>
                      </a:r>
                    </a:p>
                  </a:txBody>
                  <a:tcPr anchor="ctr"/>
                </a:tc>
                <a:tc>
                  <a:txBody>
                    <a:bodyPr/>
                    <a:lstStyle/>
                    <a:p>
                      <a:pPr>
                        <a:buNone/>
                      </a:pPr>
                      <a:r>
                        <a:rPr lang="en-IN" dirty="0"/>
                        <a:t>User-oriented application</a:t>
                      </a:r>
                    </a:p>
                  </a:txBody>
                  <a:tcPr anchor="ctr"/>
                </a:tc>
                <a:extLst>
                  <a:ext uri="{0D108BD9-81ED-4DB2-BD59-A6C34878D82A}">
                    <a16:rowId xmlns:a16="http://schemas.microsoft.com/office/drawing/2014/main" val="3447289612"/>
                  </a:ext>
                </a:extLst>
              </a:tr>
              <a:tr h="435303">
                <a:tc>
                  <a:txBody>
                    <a:bodyPr/>
                    <a:lstStyle/>
                    <a:p>
                      <a:pPr>
                        <a:buNone/>
                      </a:pPr>
                      <a:r>
                        <a:rPr lang="en-IN"/>
                        <a:t>Separate information sources</a:t>
                      </a:r>
                    </a:p>
                  </a:txBody>
                  <a:tcPr anchor="ctr"/>
                </a:tc>
                <a:tc>
                  <a:txBody>
                    <a:bodyPr/>
                    <a:lstStyle/>
                    <a:p>
                      <a:pPr>
                        <a:buNone/>
                      </a:pPr>
                      <a:r>
                        <a:rPr lang="en-IN"/>
                        <a:t>Unified disaster management interface</a:t>
                      </a:r>
                    </a:p>
                  </a:txBody>
                  <a:tcPr anchor="ctr"/>
                </a:tc>
                <a:extLst>
                  <a:ext uri="{0D108BD9-81ED-4DB2-BD59-A6C34878D82A}">
                    <a16:rowId xmlns:a16="http://schemas.microsoft.com/office/drawing/2014/main" val="2233185594"/>
                  </a:ext>
                </a:extLst>
              </a:tr>
              <a:tr h="751346">
                <a:tc>
                  <a:txBody>
                    <a:bodyPr/>
                    <a:lstStyle/>
                    <a:p>
                      <a:pPr>
                        <a:buNone/>
                      </a:pPr>
                      <a:r>
                        <a:rPr lang="en-IN"/>
                        <a:t>Route planning</a:t>
                      </a:r>
                    </a:p>
                  </a:txBody>
                  <a:tcPr anchor="ctr"/>
                </a:tc>
                <a:tc>
                  <a:txBody>
                    <a:bodyPr/>
                    <a:lstStyle/>
                    <a:p>
                      <a:pPr>
                        <a:buNone/>
                      </a:pPr>
                      <a:r>
                        <a:rPr lang="en-IN" dirty="0"/>
                        <a:t>Route recommendation + disaster information</a:t>
                      </a:r>
                    </a:p>
                  </a:txBody>
                  <a:tcPr anchor="ctr"/>
                </a:tc>
                <a:extLst>
                  <a:ext uri="{0D108BD9-81ED-4DB2-BD59-A6C34878D82A}">
                    <a16:rowId xmlns:a16="http://schemas.microsoft.com/office/drawing/2014/main" val="1338642754"/>
                  </a:ext>
                </a:extLst>
              </a:tr>
            </a:tbl>
          </a:graphicData>
        </a:graphic>
      </p:graphicFrame>
    </p:spTree>
    <p:extLst>
      <p:ext uri="{BB962C8B-B14F-4D97-AF65-F5344CB8AC3E}">
        <p14:creationId xmlns:p14="http://schemas.microsoft.com/office/powerpoint/2010/main" val="3764794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45D734A-8E12-5905-9470-7EE1140E2AA8}"/>
              </a:ext>
            </a:extLst>
          </p:cNvPr>
          <p:cNvSpPr>
            <a:spLocks noGrp="1"/>
          </p:cNvSpPr>
          <p:nvPr>
            <p:ph type="body" idx="1"/>
          </p:nvPr>
        </p:nvSpPr>
        <p:spPr>
          <a:xfrm>
            <a:off x="511008" y="1973841"/>
            <a:ext cx="10515600" cy="5170432"/>
          </a:xfrm>
        </p:spPr>
        <p:txBody>
          <a:bodyPr/>
          <a:lstStyle/>
          <a:p>
            <a:r>
              <a:rPr lang="en-IN" sz="2000" b="1" dirty="0">
                <a:solidFill>
                  <a:schemeClr val="tx1"/>
                </a:solidFill>
                <a:latin typeface="Times New Roman" panose="02020603050405020304" pitchFamily="18" charset="0"/>
                <a:cs typeface="Times New Roman" panose="02020603050405020304" pitchFamily="18" charset="0"/>
              </a:rPr>
              <a:t>Modern Tools &amp; Technologies:</a:t>
            </a:r>
          </a:p>
          <a:p>
            <a:pPr lvl="0"/>
            <a:r>
              <a:rPr lang="en-IN" sz="2000" dirty="0">
                <a:solidFill>
                  <a:schemeClr val="tx1"/>
                </a:solidFill>
                <a:latin typeface="Times New Roman" panose="02020603050405020304" pitchFamily="18" charset="0"/>
                <a:cs typeface="Times New Roman" panose="02020603050405020304" pitchFamily="18" charset="0"/>
              </a:rPr>
              <a:t>Jira </a:t>
            </a:r>
          </a:p>
          <a:p>
            <a:pPr lvl="0"/>
            <a:r>
              <a:rPr lang="en-IN" sz="2000" dirty="0">
                <a:solidFill>
                  <a:schemeClr val="tx1"/>
                </a:solidFill>
                <a:latin typeface="Times New Roman" panose="02020603050405020304" pitchFamily="18" charset="0"/>
                <a:cs typeface="Times New Roman" panose="02020603050405020304" pitchFamily="18" charset="0"/>
              </a:rPr>
              <a:t>Scrum </a:t>
            </a:r>
          </a:p>
          <a:p>
            <a:pPr lvl="0"/>
            <a:r>
              <a:rPr lang="en-IN" sz="2000" dirty="0">
                <a:solidFill>
                  <a:schemeClr val="tx1"/>
                </a:solidFill>
                <a:latin typeface="Times New Roman" panose="02020603050405020304" pitchFamily="18" charset="0"/>
                <a:cs typeface="Times New Roman" panose="02020603050405020304" pitchFamily="18" charset="0"/>
              </a:rPr>
              <a:t>GitHub </a:t>
            </a:r>
          </a:p>
          <a:p>
            <a:pPr lvl="0"/>
            <a:r>
              <a:rPr lang="en-IN" sz="2000" dirty="0">
                <a:solidFill>
                  <a:schemeClr val="tx1"/>
                </a:solidFill>
                <a:latin typeface="Times New Roman" panose="02020603050405020304" pitchFamily="18" charset="0"/>
                <a:cs typeface="Times New Roman" panose="02020603050405020304" pitchFamily="18" charset="0"/>
              </a:rPr>
              <a:t>Figma </a:t>
            </a:r>
          </a:p>
          <a:p>
            <a:pPr lvl="0"/>
            <a:r>
              <a:rPr lang="en-IN" sz="2000" dirty="0">
                <a:solidFill>
                  <a:schemeClr val="tx1"/>
                </a:solidFill>
                <a:latin typeface="Times New Roman" panose="02020603050405020304" pitchFamily="18" charset="0"/>
                <a:cs typeface="Times New Roman" panose="02020603050405020304" pitchFamily="18" charset="0"/>
              </a:rPr>
              <a:t>Google Gemini </a:t>
            </a:r>
          </a:p>
          <a:p>
            <a:pPr lvl="0"/>
            <a:r>
              <a:rPr lang="en-IN" sz="2000" dirty="0">
                <a:solidFill>
                  <a:schemeClr val="tx1"/>
                </a:solidFill>
                <a:latin typeface="Times New Roman" panose="02020603050405020304" pitchFamily="18" charset="0"/>
                <a:cs typeface="Times New Roman" panose="02020603050405020304" pitchFamily="18" charset="0"/>
              </a:rPr>
              <a:t>GitHub Copilot</a:t>
            </a:r>
          </a:p>
          <a:p>
            <a:endParaRPr lang="en-IN" dirty="0"/>
          </a:p>
        </p:txBody>
      </p:sp>
      <p:sp>
        <p:nvSpPr>
          <p:cNvPr id="4" name="Rounded Rectangle 17">
            <a:extLst>
              <a:ext uri="{FF2B5EF4-FFF2-40B4-BE49-F238E27FC236}">
                <a16:creationId xmlns:a16="http://schemas.microsoft.com/office/drawing/2014/main" id="{15039A8A-D0BD-8D28-AABF-71409AEEC1A2}"/>
              </a:ext>
            </a:extLst>
          </p:cNvPr>
          <p:cNvSpPr/>
          <p:nvPr/>
        </p:nvSpPr>
        <p:spPr>
          <a:xfrm>
            <a:off x="2945216" y="45285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Technologies Used</a:t>
            </a:r>
            <a:endParaRPr lang="en-US" sz="2400" b="1" dirty="0">
              <a:solidFill>
                <a:schemeClr val="bg1"/>
              </a:solidFill>
            </a:endParaRPr>
          </a:p>
        </p:txBody>
      </p:sp>
    </p:spTree>
    <p:extLst>
      <p:ext uri="{BB962C8B-B14F-4D97-AF65-F5344CB8AC3E}">
        <p14:creationId xmlns:p14="http://schemas.microsoft.com/office/powerpoint/2010/main" val="2513079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C04390-AA17-2F00-A029-FDA67782619A}"/>
              </a:ext>
            </a:extLst>
          </p:cNvPr>
          <p:cNvSpPr>
            <a:spLocks noGrp="1"/>
          </p:cNvSpPr>
          <p:nvPr>
            <p:ph type="subTitle" idx="1"/>
          </p:nvPr>
        </p:nvSpPr>
        <p:spPr/>
        <p:txBody>
          <a:bodyPr/>
          <a:lstStyle/>
          <a:p>
            <a:endParaRPr lang="en-US" dirty="0">
              <a:solidFill>
                <a:prstClr val="black"/>
              </a:solidFill>
              <a:latin typeface="Times New Roman" panose="02020603050405020304" pitchFamily="18" charset="0"/>
              <a:cs typeface="Times New Roman" panose="02020603050405020304" pitchFamily="18" charset="0"/>
            </a:endParaRPr>
          </a:p>
          <a:p>
            <a:pPr marL="457200" indent="-457200">
              <a:buAutoNum type="arabicPeriod"/>
            </a:pPr>
            <a:endParaRPr lang="en-IN" dirty="0"/>
          </a:p>
        </p:txBody>
      </p:sp>
      <p:sp>
        <p:nvSpPr>
          <p:cNvPr id="4" name="Rounded Rectangle 17">
            <a:extLst>
              <a:ext uri="{FF2B5EF4-FFF2-40B4-BE49-F238E27FC236}">
                <a16:creationId xmlns:a16="http://schemas.microsoft.com/office/drawing/2014/main" id="{FB10FB67-2697-DD20-452D-E17DBBD36602}"/>
              </a:ext>
            </a:extLst>
          </p:cNvPr>
          <p:cNvSpPr/>
          <p:nvPr/>
        </p:nvSpPr>
        <p:spPr>
          <a:xfrm>
            <a:off x="3034228" y="4204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System Architecture</a:t>
            </a:r>
            <a:endParaRPr lang="en-US" sz="2400" b="1" dirty="0">
              <a:solidFill>
                <a:schemeClr val="bg1"/>
              </a:solidFill>
            </a:endParaRPr>
          </a:p>
        </p:txBody>
      </p:sp>
      <p:pic>
        <p:nvPicPr>
          <p:cNvPr id="6" name="Picture 5">
            <a:extLst>
              <a:ext uri="{FF2B5EF4-FFF2-40B4-BE49-F238E27FC236}">
                <a16:creationId xmlns:a16="http://schemas.microsoft.com/office/drawing/2014/main" id="{39ECF9CF-7332-5587-1AEA-628AF6AD991C}"/>
              </a:ext>
            </a:extLst>
          </p:cNvPr>
          <p:cNvPicPr>
            <a:picLocks noChangeAspect="1"/>
          </p:cNvPicPr>
          <p:nvPr/>
        </p:nvPicPr>
        <p:blipFill>
          <a:blip r:embed="rId2"/>
          <a:srcRect t="5008" r="-248" b="1956"/>
          <a:stretch>
            <a:fillRect/>
          </a:stretch>
        </p:blipFill>
        <p:spPr>
          <a:xfrm>
            <a:off x="2868295" y="1065916"/>
            <a:ext cx="6455422" cy="5783730"/>
          </a:xfrm>
          <a:prstGeom prst="rect">
            <a:avLst/>
          </a:prstGeom>
        </p:spPr>
      </p:pic>
    </p:spTree>
    <p:extLst>
      <p:ext uri="{BB962C8B-B14F-4D97-AF65-F5344CB8AC3E}">
        <p14:creationId xmlns:p14="http://schemas.microsoft.com/office/powerpoint/2010/main" val="683929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89C5C-2CA5-0D63-6379-A23CD77B5B7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E62F5B8-3320-F8F9-42D9-C229A06C7570}"/>
              </a:ext>
            </a:extLst>
          </p:cNvPr>
          <p:cNvSpPr>
            <a:spLocks noGrp="1"/>
          </p:cNvSpPr>
          <p:nvPr>
            <p:ph type="body" idx="1"/>
          </p:nvPr>
        </p:nvSpPr>
        <p:spPr>
          <a:xfrm>
            <a:off x="838200" y="1242759"/>
            <a:ext cx="10515600" cy="5066601"/>
          </a:xfrm>
        </p:spPr>
        <p:txBody>
          <a:bodyPr>
            <a:normAutofit fontScale="62500" lnSpcReduction="20000"/>
          </a:bodyPr>
          <a:lstStyle/>
          <a:p>
            <a:endParaRPr lang="en-US" dirty="0">
              <a:solidFill>
                <a:prstClr val="black"/>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1. User &amp; Authentication Module</a:t>
            </a:r>
          </a:p>
          <a:p>
            <a:r>
              <a:rPr lang="en-IN" dirty="0">
                <a:solidFill>
                  <a:schemeClr val="tx1"/>
                </a:solidFill>
                <a:latin typeface="Times New Roman" panose="02020603050405020304" pitchFamily="18" charset="0"/>
                <a:cs typeface="Times New Roman" panose="02020603050405020304" pitchFamily="18" charset="0"/>
              </a:rPr>
              <a:t>Handles login and user interaction.</a:t>
            </a:r>
          </a:p>
          <a:p>
            <a:r>
              <a:rPr lang="en-IN" dirty="0">
                <a:solidFill>
                  <a:schemeClr val="tx1"/>
                </a:solidFill>
                <a:latin typeface="Times New Roman" panose="02020603050405020304" pitchFamily="18" charset="0"/>
                <a:cs typeface="Times New Roman" panose="02020603050405020304" pitchFamily="18" charset="0"/>
              </a:rPr>
              <a:t>2. Disaster Information Module</a:t>
            </a:r>
          </a:p>
          <a:p>
            <a:r>
              <a:rPr lang="en-IN" dirty="0">
                <a:solidFill>
                  <a:schemeClr val="tx1"/>
                </a:solidFill>
                <a:latin typeface="Times New Roman" panose="02020603050405020304" pitchFamily="18" charset="0"/>
                <a:cs typeface="Times New Roman" panose="02020603050405020304" pitchFamily="18" charset="0"/>
              </a:rPr>
              <a:t>Provides disaster-related conditions and affected-area information.</a:t>
            </a:r>
          </a:p>
          <a:p>
            <a:r>
              <a:rPr lang="en-IN" dirty="0">
                <a:solidFill>
                  <a:schemeClr val="tx1"/>
                </a:solidFill>
                <a:latin typeface="Times New Roman" panose="02020603050405020304" pitchFamily="18" charset="0"/>
                <a:cs typeface="Times New Roman" panose="02020603050405020304" pitchFamily="18" charset="0"/>
              </a:rPr>
              <a:t>3. Hazard Detection Module</a:t>
            </a:r>
          </a:p>
          <a:p>
            <a:r>
              <a:rPr lang="en-IN" dirty="0">
                <a:solidFill>
                  <a:schemeClr val="tx1"/>
                </a:solidFill>
                <a:latin typeface="Times New Roman" panose="02020603050405020304" pitchFamily="18" charset="0"/>
                <a:cs typeface="Times New Roman" panose="02020603050405020304" pitchFamily="18" charset="0"/>
              </a:rPr>
              <a:t>Identifies hazardous locations.</a:t>
            </a:r>
          </a:p>
          <a:p>
            <a:r>
              <a:rPr lang="en-IN" dirty="0">
                <a:solidFill>
                  <a:schemeClr val="tx1"/>
                </a:solidFill>
                <a:latin typeface="Times New Roman" panose="02020603050405020304" pitchFamily="18" charset="0"/>
                <a:cs typeface="Times New Roman" panose="02020603050405020304" pitchFamily="18" charset="0"/>
              </a:rPr>
              <a:t>4. Route Status Module</a:t>
            </a:r>
          </a:p>
          <a:p>
            <a:r>
              <a:rPr lang="en-IN" dirty="0">
                <a:solidFill>
                  <a:schemeClr val="tx1"/>
                </a:solidFill>
                <a:latin typeface="Times New Roman" panose="02020603050405020304" pitchFamily="18" charset="0"/>
                <a:cs typeface="Times New Roman" panose="02020603050405020304" pitchFamily="18" charset="0"/>
              </a:rPr>
              <a:t>Identifies available and blocked routes.</a:t>
            </a:r>
          </a:p>
          <a:p>
            <a:r>
              <a:rPr lang="en-IN" dirty="0">
                <a:solidFill>
                  <a:schemeClr val="tx1"/>
                </a:solidFill>
                <a:latin typeface="Times New Roman" panose="02020603050405020304" pitchFamily="18" charset="0"/>
                <a:cs typeface="Times New Roman" panose="02020603050405020304" pitchFamily="18" charset="0"/>
              </a:rPr>
              <a:t>5. Crowd Density Module</a:t>
            </a:r>
          </a:p>
          <a:p>
            <a:r>
              <a:rPr lang="en-IN" dirty="0">
                <a:solidFill>
                  <a:schemeClr val="tx1"/>
                </a:solidFill>
                <a:latin typeface="Times New Roman" panose="02020603050405020304" pitchFamily="18" charset="0"/>
                <a:cs typeface="Times New Roman" panose="02020603050405020304" pitchFamily="18" charset="0"/>
              </a:rPr>
              <a:t>Considers crowd/congestion levels.</a:t>
            </a:r>
          </a:p>
          <a:p>
            <a:r>
              <a:rPr lang="en-IN" dirty="0">
                <a:solidFill>
                  <a:schemeClr val="tx1"/>
                </a:solidFill>
                <a:latin typeface="Times New Roman" panose="02020603050405020304" pitchFamily="18" charset="0"/>
                <a:cs typeface="Times New Roman" panose="02020603050405020304" pitchFamily="18" charset="0"/>
              </a:rPr>
              <a:t>6. AI Route Recommendation Module</a:t>
            </a:r>
          </a:p>
          <a:p>
            <a:r>
              <a:rPr lang="en-IN" dirty="0" err="1">
                <a:solidFill>
                  <a:schemeClr val="tx1"/>
                </a:solidFill>
                <a:latin typeface="Times New Roman" panose="02020603050405020304" pitchFamily="18" charset="0"/>
                <a:cs typeface="Times New Roman" panose="02020603050405020304" pitchFamily="18" charset="0"/>
              </a:rPr>
              <a:t>Analyzes</a:t>
            </a:r>
            <a:r>
              <a:rPr lang="en-IN" dirty="0">
                <a:solidFill>
                  <a:schemeClr val="tx1"/>
                </a:solidFill>
                <a:latin typeface="Times New Roman" panose="02020603050405020304" pitchFamily="18" charset="0"/>
                <a:cs typeface="Times New Roman" panose="02020603050405020304" pitchFamily="18" charset="0"/>
              </a:rPr>
              <a:t> the available factors and recommends a suitable evacuation route.</a:t>
            </a:r>
          </a:p>
          <a:p>
            <a:r>
              <a:rPr lang="en-IN" dirty="0">
                <a:solidFill>
                  <a:schemeClr val="tx1"/>
                </a:solidFill>
                <a:latin typeface="Times New Roman" panose="02020603050405020304" pitchFamily="18" charset="0"/>
                <a:cs typeface="Times New Roman" panose="02020603050405020304" pitchFamily="18" charset="0"/>
              </a:rPr>
              <a:t>7. Adaptive Route Update Module</a:t>
            </a:r>
          </a:p>
          <a:p>
            <a:r>
              <a:rPr lang="en-IN" dirty="0">
                <a:solidFill>
                  <a:schemeClr val="tx1"/>
                </a:solidFill>
                <a:latin typeface="Times New Roman" panose="02020603050405020304" pitchFamily="18" charset="0"/>
                <a:cs typeface="Times New Roman" panose="02020603050405020304" pitchFamily="18" charset="0"/>
              </a:rPr>
              <a:t>Updates the recommendation when disaster conditions change.</a:t>
            </a:r>
          </a:p>
          <a:p>
            <a:r>
              <a:rPr lang="en-IN" dirty="0">
                <a:solidFill>
                  <a:schemeClr val="tx1"/>
                </a:solidFill>
                <a:latin typeface="Times New Roman" panose="02020603050405020304" pitchFamily="18" charset="0"/>
                <a:cs typeface="Times New Roman" panose="02020603050405020304" pitchFamily="18" charset="0"/>
              </a:rPr>
              <a:t>8. Map &amp; Visualization Module</a:t>
            </a:r>
          </a:p>
          <a:p>
            <a:r>
              <a:rPr lang="en-IN" dirty="0">
                <a:solidFill>
                  <a:schemeClr val="tx1"/>
                </a:solidFill>
                <a:latin typeface="Times New Roman" panose="02020603050405020304" pitchFamily="18" charset="0"/>
                <a:cs typeface="Times New Roman" panose="02020603050405020304" pitchFamily="18" charset="0"/>
              </a:rPr>
              <a:t>Displays hazards, routes, safe zones and evacuation guidance.</a:t>
            </a:r>
          </a:p>
          <a:p>
            <a:pPr marL="457200" indent="-457200">
              <a:buAutoNum type="arabicPeriod"/>
            </a:pPr>
            <a:endParaRPr lang="en-IN" dirty="0"/>
          </a:p>
        </p:txBody>
      </p:sp>
      <p:sp>
        <p:nvSpPr>
          <p:cNvPr id="4" name="Rounded Rectangle 17">
            <a:extLst>
              <a:ext uri="{FF2B5EF4-FFF2-40B4-BE49-F238E27FC236}">
                <a16:creationId xmlns:a16="http://schemas.microsoft.com/office/drawing/2014/main" id="{A778246A-571D-66CA-8A46-2A6CE8BD6545}"/>
              </a:ext>
            </a:extLst>
          </p:cNvPr>
          <p:cNvSpPr/>
          <p:nvPr/>
        </p:nvSpPr>
        <p:spPr>
          <a:xfrm>
            <a:off x="2937123" y="444758"/>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Modules</a:t>
            </a:r>
            <a:endParaRPr lang="en-US" sz="2400" b="1" dirty="0">
              <a:solidFill>
                <a:schemeClr val="bg1"/>
              </a:solidFill>
            </a:endParaRPr>
          </a:p>
        </p:txBody>
      </p:sp>
    </p:spTree>
    <p:extLst>
      <p:ext uri="{BB962C8B-B14F-4D97-AF65-F5344CB8AC3E}">
        <p14:creationId xmlns:p14="http://schemas.microsoft.com/office/powerpoint/2010/main" val="14301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9A7C9-0937-9881-888C-E3BE9307E83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A760919-5D17-8AFC-3397-0050C93A150B}"/>
              </a:ext>
            </a:extLst>
          </p:cNvPr>
          <p:cNvSpPr>
            <a:spLocks noGrp="1"/>
          </p:cNvSpPr>
          <p:nvPr>
            <p:ph type="body" idx="1"/>
          </p:nvPr>
        </p:nvSpPr>
        <p:spPr>
          <a:xfrm>
            <a:off x="838200" y="1242759"/>
            <a:ext cx="10515600" cy="5066601"/>
          </a:xfrm>
        </p:spPr>
        <p:txBody>
          <a:bodyPr/>
          <a:lstStyle/>
          <a:p>
            <a:endParaRPr lang="en-US" dirty="0">
              <a:solidFill>
                <a:prstClr val="black"/>
              </a:solidFill>
              <a:latin typeface="Times New Roman" panose="02020603050405020304" pitchFamily="18" charset="0"/>
              <a:cs typeface="Times New Roman" panose="02020603050405020304" pitchFamily="18" charset="0"/>
            </a:endParaRPr>
          </a:p>
          <a:p>
            <a:pPr marL="457200" indent="-457200">
              <a:buAutoNum type="arabicPeriod"/>
            </a:pPr>
            <a:endParaRPr lang="en-IN" dirty="0"/>
          </a:p>
        </p:txBody>
      </p:sp>
      <p:sp>
        <p:nvSpPr>
          <p:cNvPr id="4" name="Rounded Rectangle 17">
            <a:extLst>
              <a:ext uri="{FF2B5EF4-FFF2-40B4-BE49-F238E27FC236}">
                <a16:creationId xmlns:a16="http://schemas.microsoft.com/office/drawing/2014/main" id="{E12FC2E3-682A-C2C5-ACF7-663A9805B56B}"/>
              </a:ext>
            </a:extLst>
          </p:cNvPr>
          <p:cNvSpPr/>
          <p:nvPr/>
        </p:nvSpPr>
        <p:spPr>
          <a:xfrm>
            <a:off x="3010918" y="487929"/>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Implementation / Progress</a:t>
            </a:r>
            <a:endParaRPr lang="en-US" sz="2400" b="1" dirty="0">
              <a:solidFill>
                <a:schemeClr val="bg1"/>
              </a:solidFill>
            </a:endParaRPr>
          </a:p>
        </p:txBody>
      </p:sp>
      <p:pic>
        <p:nvPicPr>
          <p:cNvPr id="5" name="Picture 4">
            <a:extLst>
              <a:ext uri="{FF2B5EF4-FFF2-40B4-BE49-F238E27FC236}">
                <a16:creationId xmlns:a16="http://schemas.microsoft.com/office/drawing/2014/main" id="{B84DE198-87F0-C846-CF2E-0A786B1C663E}"/>
              </a:ext>
            </a:extLst>
          </p:cNvPr>
          <p:cNvPicPr>
            <a:picLocks noChangeAspect="1"/>
          </p:cNvPicPr>
          <p:nvPr/>
        </p:nvPicPr>
        <p:blipFill>
          <a:blip r:embed="rId2"/>
          <a:stretch>
            <a:fillRect/>
          </a:stretch>
        </p:blipFill>
        <p:spPr>
          <a:xfrm>
            <a:off x="105197" y="1796348"/>
            <a:ext cx="5811442" cy="3265304"/>
          </a:xfrm>
          <a:prstGeom prst="rect">
            <a:avLst/>
          </a:prstGeom>
        </p:spPr>
      </p:pic>
      <p:pic>
        <p:nvPicPr>
          <p:cNvPr id="7" name="Picture 6">
            <a:extLst>
              <a:ext uri="{FF2B5EF4-FFF2-40B4-BE49-F238E27FC236}">
                <a16:creationId xmlns:a16="http://schemas.microsoft.com/office/drawing/2014/main" id="{0B8229D4-9B37-104E-5E91-3CCCCAF1A50B}"/>
              </a:ext>
            </a:extLst>
          </p:cNvPr>
          <p:cNvPicPr>
            <a:picLocks noChangeAspect="1"/>
          </p:cNvPicPr>
          <p:nvPr/>
        </p:nvPicPr>
        <p:blipFill>
          <a:blip r:embed="rId3"/>
          <a:stretch>
            <a:fillRect/>
          </a:stretch>
        </p:blipFill>
        <p:spPr>
          <a:xfrm>
            <a:off x="6210625" y="1796348"/>
            <a:ext cx="5811442" cy="3265304"/>
          </a:xfrm>
          <a:prstGeom prst="rect">
            <a:avLst/>
          </a:prstGeom>
        </p:spPr>
      </p:pic>
    </p:spTree>
    <p:extLst>
      <p:ext uri="{BB962C8B-B14F-4D97-AF65-F5344CB8AC3E}">
        <p14:creationId xmlns:p14="http://schemas.microsoft.com/office/powerpoint/2010/main" val="513184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DCC64-78F2-A6B3-B21C-08AC1F979C3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74ECF12-5068-2B6F-4551-DF447A4A6DF4}"/>
              </a:ext>
            </a:extLst>
          </p:cNvPr>
          <p:cNvSpPr>
            <a:spLocks noGrp="1"/>
          </p:cNvSpPr>
          <p:nvPr>
            <p:ph type="body" idx="1"/>
          </p:nvPr>
        </p:nvSpPr>
        <p:spPr>
          <a:xfrm>
            <a:off x="838200" y="2027687"/>
            <a:ext cx="10515600" cy="5066601"/>
          </a:xfrm>
        </p:spPr>
        <p:txBody>
          <a:bodyPr/>
          <a:lstStyle/>
          <a:p>
            <a:endParaRPr lang="en-US" dirty="0">
              <a:solidFill>
                <a:prstClr val="black"/>
              </a:solidFill>
              <a:latin typeface="Times New Roman" panose="02020603050405020304" pitchFamily="18" charset="0"/>
              <a:cs typeface="Times New Roman" panose="02020603050405020304" pitchFamily="18" charset="0"/>
            </a:endParaRPr>
          </a:p>
          <a:p>
            <a:pPr marL="457200" indent="-457200">
              <a:buAutoNum type="arabicPeriod"/>
            </a:pPr>
            <a:r>
              <a:rPr lang="en-IN" dirty="0">
                <a:solidFill>
                  <a:schemeClr val="tx1"/>
                </a:solidFill>
                <a:latin typeface="Times New Roman" panose="02020603050405020304" pitchFamily="18" charset="0"/>
                <a:cs typeface="Times New Roman" panose="02020603050405020304" pitchFamily="18" charset="0"/>
              </a:rPr>
              <a:t>The proposed system aims to address the limitations of conventional and single-factor evacuation approaches by integrating disaster conditions, hazard locations, blocked routes and crowd density into an adaptive evacuation recommendation system. The project applies AI and adaptive software engineering principles to support faster and more informed evacuation decisions.</a:t>
            </a:r>
          </a:p>
        </p:txBody>
      </p:sp>
      <p:sp>
        <p:nvSpPr>
          <p:cNvPr id="4" name="Rounded Rectangle 17">
            <a:extLst>
              <a:ext uri="{FF2B5EF4-FFF2-40B4-BE49-F238E27FC236}">
                <a16:creationId xmlns:a16="http://schemas.microsoft.com/office/drawing/2014/main" id="{D9E86AF8-06A9-B1FD-FDBA-FD4062509E22}"/>
              </a:ext>
            </a:extLst>
          </p:cNvPr>
          <p:cNvSpPr/>
          <p:nvPr/>
        </p:nvSpPr>
        <p:spPr>
          <a:xfrm>
            <a:off x="2961400" y="53377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Conclusion</a:t>
            </a:r>
            <a:endParaRPr lang="en-US" sz="2400" b="1" dirty="0">
              <a:solidFill>
                <a:schemeClr val="bg1"/>
              </a:solidFill>
            </a:endParaRPr>
          </a:p>
        </p:txBody>
      </p:sp>
    </p:spTree>
    <p:extLst>
      <p:ext uri="{BB962C8B-B14F-4D97-AF65-F5344CB8AC3E}">
        <p14:creationId xmlns:p14="http://schemas.microsoft.com/office/powerpoint/2010/main" val="173798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11,400+ Thank You On Red Stock Photos, Pictures &amp; Royalty-Free Images -  iStock">
            <a:extLst>
              <a:ext uri="{FF2B5EF4-FFF2-40B4-BE49-F238E27FC236}">
                <a16:creationId xmlns:a16="http://schemas.microsoft.com/office/drawing/2014/main" id="{078798B7-AD48-485A-9438-5C9181D990E8}"/>
              </a:ext>
            </a:extLst>
          </p:cNvPr>
          <p:cNvPicPr>
            <a:picLocks noChangeAspect="1"/>
          </p:cNvPicPr>
          <p:nvPr/>
        </p:nvPicPr>
        <p:blipFill>
          <a:blip r:embed="rId2"/>
          <a:stretch>
            <a:fillRect/>
          </a:stretch>
        </p:blipFill>
        <p:spPr>
          <a:xfrm>
            <a:off x="3411794" y="1585451"/>
            <a:ext cx="5594554" cy="3687097"/>
          </a:xfrm>
          <a:prstGeom prst="rect">
            <a:avLst/>
          </a:prstGeom>
        </p:spPr>
      </p:pic>
    </p:spTree>
    <p:extLst>
      <p:ext uri="{BB962C8B-B14F-4D97-AF65-F5344CB8AC3E}">
        <p14:creationId xmlns:p14="http://schemas.microsoft.com/office/powerpoint/2010/main" val="3488524852"/>
      </p:ext>
    </p:extLst>
  </p:cSld>
  <p:clrMapOvr>
    <a:masterClrMapping/>
  </p:clrMapOvr>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TOC EVAL PLAN</Template>
  <TotalTime>105113</TotalTime>
  <Words>710</Words>
  <Application>Microsoft Office PowerPoint</Application>
  <PresentationFormat>Widescreen</PresentationFormat>
  <Paragraphs>102</Paragraphs>
  <Slides>13</Slides>
  <Notes>2</Notes>
  <HiddenSlides>0</HiddenSlides>
  <MMClips>0</MMClips>
  <ScaleCrop>false</ScaleCrop>
  <HeadingPairs>
    <vt:vector size="4" baseType="variant">
      <vt:variant>
        <vt:lpstr>Theme</vt:lpstr>
      </vt:variant>
      <vt:variant>
        <vt:i4>4</vt:i4>
      </vt:variant>
      <vt:variant>
        <vt:lpstr>Slide Titles</vt:lpstr>
      </vt:variant>
      <vt:variant>
        <vt:i4>13</vt:i4>
      </vt:variant>
    </vt:vector>
  </HeadingPairs>
  <TitlesOfParts>
    <vt:vector size="17" baseType="lpstr">
      <vt:lpstr>2_Custom Design</vt:lpstr>
      <vt:lpstr>1_Custom Design</vt:lpstr>
      <vt:lpstr>Custom Design</vt:lpstr>
      <vt:lpstr>Office Theme</vt:lpstr>
      <vt:lpstr>AI-Powered Adaptive Disaster Management and Intelligent Evacuation Route Recommendation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Rajashekar Mungimalla</dc:creator>
  <cp:lastModifiedBy>Akshaya Vangalapudi</cp:lastModifiedBy>
  <cp:revision>127</cp:revision>
  <dcterms:created xsi:type="dcterms:W3CDTF">2024-06-24T07:50:59Z</dcterms:created>
  <dcterms:modified xsi:type="dcterms:W3CDTF">2026-09-18T03:07:07Z</dcterms:modified>
</cp:coreProperties>
</file>